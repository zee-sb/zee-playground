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in one breath. Today we have a Q2+ roadmap built on four bets. After two months of customer signals, the Tilo and Martin Staffbase MCP work, and the Navigator 2.0 architecture commitment from May 6, that shape needs to grow to seven bets, three of which are net new and strategic. The lens for every decision today is the same: Staffbase intranet has roughly one million monthly active employees, and AI is two percent of that. The seven bets are how we move from two percent to twenty five percent. I want a clear go ahead on the three net new bets, on the technical investments behind them, and on what we are explicitly not doing. Let us walk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conversation in one slide. The current roadmap is in good shape. We are mid-flight on Navigator 2.0, the MCP and A2A platform is shipping, and aggregated analytics is being built. None of that is wasted. What changed between February and now is that the Staffbase MCP work with Tilo and Martin has gone from idea to credible asset, our search infrastructure thinking has matured, and the customer signals around an activation concierge have intensified. So we are not throwing the roadmap away. We are sharpening three bets and adding four. The numbers that matter: six million is the total intranet TAM. AI MAU today is roughly twenty thousand, a small slice. The year-end goal we have committed to externally is one million. The seven bets are the path that closes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reset before the bet detail. I am going to walk you through seven bets in two groups. Three are increments on what is already in the roadmap, with clearer outcomes: Conversation 2.0, Assistants 2.0, and Actionable Analytics. Four are net new strategic adds: Navigator Concierge, MCP and A2A Orchestration, Staffbase MCP, and unifying AI Search with Navigator. Each bet gets a MAU lens so the trade offs are visible. After this you will see the math, the bet-by-bet impact, the four net-new pillars in detail, the two things we are killing today, the enablers, and finally the four decisions I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Top row, blue, is what is already in the roadmap and getting sharper outcomes. Conversation 2.0 absorbs continuity, push-to-talk replacing live voice, rich UI cards, model-suggested follow-ups. Assistants 2.0 is the incremental work that grows assistants from one or two per tenant to fifty or one hundred via targeting, templates, AI generation. Actionable Analytics turns the dashboards we are building into admin-level recommendations and evals we can trust. Bottom row, orange, is what is new. Navigator Concierge is the productized version of the hackathon asset, a CSM-facing tab and first-run wizard that does the setup work for the tenant. MCP plus A2A Orchestration is the platform play with identity passthrough so RBAC works correctly across any external agent or tool. Staffbase MCP is Tilo and Martin's work plus Navigator's surface; the flywheel that turns the entire intranet into an agent-native product. Search and Navigator unification is the bet that converts our biggest existing usage source, search, into AI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break before we get into the math. The reason we put this lens on every bet is to stop ourselves from making local optimizations. A feature that ships and looks great in a demo but does not move AI MAU toward the year-end goal is a feature we should defer. The next slide makes the math concrete: six million is the TAM, one million is the year-end goal, and the gap is roughly fifty times where we sit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math, in four numbers. Six million is the total intranet MAU across our customer base. That is what Navigator is competing for. Twenty thousand is where AI MAU sits today, the floor. One million is the year-end commitment we have made externally. Fifty times is the gap we need to close in seven months. That is not a stretch built on hope; it is built on Search becoming an entry point into Navigator through the unification bet, on Concierge unlocking the seventy plus percent of customers that today have AI installed but not configured, and on Staffbase MCP turning every intranet feature into a Navigator surface. The next slide scores each bet against this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table in the deck and it is the one I expect you to challenge. Read it as a bet-against-lever map, not a forecast. The three blue rows are increments on existing work. Conversation 2.0 moves retention by killing the drop-off where someone clicks a source and loses the conversation. Assistants 2.0 unlocks the long tail of jobs to be done by moving from one or two assistants per tenant to fifty plus. Actionable Analytics is the slowest lever but the most compounding: when admins see what is broken they fix it, and the same tenants come back month after month. The four orange rows are the asymmetric new ones. Concierge moves activation rate, which today blocks the majority of our installs from ever showing up in AI MAU. MCP and A2A multiplies use cases per user because every connector is a new job we can do. Staffbase MCP and Search unification are the bets that, if they work, redefine what AI MAU even means at Staffbase, because every intranet user becomes an addressable Navigator user. That is why we are adding four new pillars on top of an already loaded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walk through the four pillars that did not exist in the prior roadmap shape. Navigator Concierge is the productized version of the hackathon asset. Customers today install Navigator and then stall on setup; Concierge does that work for them, ships as a Studio tab, and unlocks the dormant tenant base. MCP and A2A Orchestration is the open agent integration layer that turns Navigator into the front of all customer AI, with proper identity passthrough so the user's permissions follow the call. Staffbase MCP is the bet I am most excited about because it is asymmetric: Tilo and Martin's work exposes Staffbase functionality as agentic primitives, and from then on every product release at Staffbase grows Navigator's surface for free. Search unification is the largest single MAU lever on the table because Search is the most-used feature in Staffbase. We have the foundations already through the MORI hybrid search work. Done well, the boundary between Search and Navigator disappears, and every search becomes a possible AI conversation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specific kills, today. Not deferrals, not Q4 reviews, gone. The live voice experience: we have zero customer evidence that anyone needs always-on conversational voice. The WebSocket transport that powers it is also the source of the mobile source-click bug and the reconnection failures that have cost us demos. Push-to-talk is what customers actually use, on a transport we control, and retiring VoiceLive is the side effect that lets Navigator 2.0 ship cleanly on mobile. Mem0 user memory: it stores too much per user. The memory bloat is hurting answer quality because fresh content from assistants, pages, and news cannot break through the recall noise. There is no evidence the per-user recall quality is worth the cost. We lean on assistant-level context and the new conversation continuity work for the user-level signal we actually need. Both kills land on the same logic: they make Conversation 2.0 measurably better, and they cost less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On the left, the technical investments without which the seven bets do not happen. The VoiceLive transport swap is the unlock for push-to-talk and for fixing the mobile source-click bug. Local dev environments for PM and design is unglamorous but essential: prototype-first culture is how we ship at Navigator's pace. Hybrid retrieval through MORI is the engine behind Search unification. Identity and delegation is what makes MCP safe for enterprise. And the model cutover to GPT-5-mini is queued as soon as Azure has it. On the right, items I want explicitly deferred to Q4 plus. Simulations are a brilliant idea that I would love to ship for QA work, but it is a Q4 conversation. Push notifications need the actions framework first. The Cowork-style desktop UX is interesting but ninety five percent of MAU is on web and mobile, so it does not belong on the critical path. Agent marketplace stays in Q4 plus. Intent-based routing needs production data baseline first. These deferrals are how we protect the seven bets from scope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explicit asks. A: confirm the move from four bets to seven. This is the strategy decision. B: confirm Staffbase MCP as a Navigator dependency and make sure Tilo and Martin's work has the executive air cover to land in Q3, not later. C: sponsor the conversation with the Search team leadership to commit to a joint unification track; this needs your weight to move at the pace we need. D: back the two kills publicly. Live voice and mem0 go now. The Q4 deferrals stay deferred. The team needs that air cover so they are not pulled back into voice debugging, mem0 quality work, or desktop UX side quests. None of these require new budget. All four are about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close in one line. The shape moves from four bets to seven. The AI MAU goal moves from twenty thousand today to one million by end of 2026, fifty times. The four asks on the previous slide are what I need today. If we leave this room with A, B, C, and D agreed, I have everything I need to brief the team this week and start.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3F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65760" y="228600"/>
            <a:ext cx="1234440" cy="256032"/>
          </a:xfrm>
          <a:prstGeom prst="rect">
            <a:avLst/>
          </a:prstGeom>
        </p:spPr>
      </p:pic>
      <p:sp>
        <p:nvSpPr>
          <p:cNvPr id="3" name="Shape 0"/>
          <p:cNvSpPr/>
          <p:nvPr/>
        </p:nvSpPr>
        <p:spPr>
          <a:xfrm>
            <a:off x="347472" y="777240"/>
            <a:ext cx="54864" cy="3108960"/>
          </a:xfrm>
          <a:prstGeom prst="rect">
            <a:avLst/>
          </a:prstGeom>
          <a:solidFill>
            <a:srgbClr val="FF9600"/>
          </a:solidFill>
          <a:ln w="12700">
            <a:solidFill>
              <a:srgbClr val="FF9600"/>
            </a:solidFill>
            <a:prstDash val="solid"/>
          </a:ln>
        </p:spPr>
      </p:sp>
      <p:sp>
        <p:nvSpPr>
          <p:cNvPr id="4" name="Text 1"/>
          <p:cNvSpPr/>
          <p:nvPr/>
        </p:nvSpPr>
        <p:spPr>
          <a:xfrm>
            <a:off x="566928" y="777240"/>
            <a:ext cx="7863840" cy="868680"/>
          </a:xfrm>
          <a:prstGeom prst="rect">
            <a:avLst/>
          </a:prstGeom>
          <a:noFill/>
          <a:ln/>
        </p:spPr>
        <p:txBody>
          <a:bodyPr wrap="square" lIns="0" tIns="0" rIns="0" bIns="0" rtlCol="0" anchor="t"/>
          <a:lstStyle/>
          <a:p>
            <a:pPr indent="0" marL="0">
              <a:buNone/>
            </a:pPr>
            <a:r>
              <a:rPr lang="en-US" sz="4800" dirty="0">
                <a:solidFill>
                  <a:srgbClr val="23B4FF"/>
                </a:solidFill>
                <a:latin typeface="Epilogue ExtraBold" pitchFamily="34" charset="0"/>
                <a:ea typeface="Epilogue ExtraBold" pitchFamily="34" charset="-122"/>
                <a:cs typeface="Epilogue ExtraBold" pitchFamily="34" charset="-120"/>
              </a:rPr>
              <a:t>NAVIGATOR 2026</a:t>
            </a:r>
            <a:endParaRPr lang="en-US" sz="4800" dirty="0"/>
          </a:p>
        </p:txBody>
      </p:sp>
      <p:sp>
        <p:nvSpPr>
          <p:cNvPr id="5" name="Text 2"/>
          <p:cNvSpPr/>
          <p:nvPr/>
        </p:nvSpPr>
        <p:spPr>
          <a:xfrm>
            <a:off x="566928" y="1691640"/>
            <a:ext cx="7863840" cy="640080"/>
          </a:xfrm>
          <a:prstGeom prst="rect">
            <a:avLst/>
          </a:prstGeom>
          <a:noFill/>
          <a:ln/>
        </p:spPr>
        <p:txBody>
          <a:bodyPr wrap="square" lIns="0" tIns="0" rIns="0" bIns="0" rtlCol="0" anchor="t"/>
          <a:lstStyle/>
          <a:p>
            <a:pPr indent="0" marL="0">
              <a:buNone/>
            </a:pPr>
            <a:r>
              <a:rPr lang="en-US" sz="3200" dirty="0">
                <a:solidFill>
                  <a:srgbClr val="090D48"/>
                </a:solidFill>
                <a:latin typeface="Epilogue ExtraBold" pitchFamily="34" charset="0"/>
                <a:ea typeface="Epilogue ExtraBold" pitchFamily="34" charset="-122"/>
                <a:cs typeface="Epilogue ExtraBold" pitchFamily="34" charset="-120"/>
              </a:rPr>
              <a:t>SEVEN BETS</a:t>
            </a:r>
            <a:endParaRPr lang="en-US" sz="3200" dirty="0"/>
          </a:p>
        </p:txBody>
      </p:sp>
      <p:sp>
        <p:nvSpPr>
          <p:cNvPr id="6" name="Text 3"/>
          <p:cNvSpPr/>
          <p:nvPr/>
        </p:nvSpPr>
        <p:spPr>
          <a:xfrm>
            <a:off x="566928" y="2286000"/>
            <a:ext cx="7863840" cy="640080"/>
          </a:xfrm>
          <a:prstGeom prst="rect">
            <a:avLst/>
          </a:prstGeom>
          <a:noFill/>
          <a:ln/>
        </p:spPr>
        <p:txBody>
          <a:bodyPr wrap="square" lIns="0" tIns="0" rIns="0" bIns="0" rtlCol="0" anchor="t"/>
          <a:lstStyle/>
          <a:p>
            <a:pPr indent="0" marL="0">
              <a:buNone/>
            </a:pPr>
            <a:r>
              <a:rPr lang="en-US" sz="3200" dirty="0">
                <a:solidFill>
                  <a:srgbClr val="090D48"/>
                </a:solidFill>
                <a:latin typeface="Epilogue ExtraBold" pitchFamily="34" charset="0"/>
                <a:ea typeface="Epilogue ExtraBold" pitchFamily="34" charset="-122"/>
                <a:cs typeface="Epilogue ExtraBold" pitchFamily="34" charset="-120"/>
              </a:rPr>
              <a:t>ONE MILLION EMPLOYEES</a:t>
            </a:r>
            <a:endParaRPr lang="en-US" sz="3200" dirty="0"/>
          </a:p>
        </p:txBody>
      </p:sp>
      <p:sp>
        <p:nvSpPr>
          <p:cNvPr id="7" name="Text 4"/>
          <p:cNvSpPr/>
          <p:nvPr/>
        </p:nvSpPr>
        <p:spPr>
          <a:xfrm>
            <a:off x="566928" y="3108960"/>
            <a:ext cx="7315200" cy="365760"/>
          </a:xfrm>
          <a:prstGeom prst="rect">
            <a:avLst/>
          </a:prstGeom>
          <a:noFill/>
          <a:ln/>
        </p:spPr>
        <p:txBody>
          <a:bodyPr wrap="square" lIns="0" tIns="0" rIns="0" bIns="0" rtlCol="0" anchor="ctr"/>
          <a:lstStyle/>
          <a:p>
            <a:pPr indent="0" marL="0">
              <a:buNone/>
            </a:pPr>
            <a:r>
              <a:rPr lang="en-US" sz="1400" dirty="0">
                <a:solidFill>
                  <a:srgbClr val="090D48"/>
                </a:solidFill>
                <a:latin typeface="Inter" pitchFamily="34" charset="0"/>
                <a:ea typeface="Inter" pitchFamily="34" charset="-122"/>
                <a:cs typeface="Inter" pitchFamily="34" charset="-120"/>
              </a:rPr>
              <a:t>Reshape of the Q2+ roadmap, framed against the 6M intranet TAM and the 1M EOY 2026 AI MAU goal.</a:t>
            </a:r>
            <a:endParaRPr lang="en-US" sz="1400" dirty="0"/>
          </a:p>
        </p:txBody>
      </p:sp>
      <p:sp>
        <p:nvSpPr>
          <p:cNvPr id="8" name="Text 5"/>
          <p:cNvSpPr/>
          <p:nvPr/>
        </p:nvSpPr>
        <p:spPr>
          <a:xfrm>
            <a:off x="566928" y="3611880"/>
            <a:ext cx="7315200" cy="274320"/>
          </a:xfrm>
          <a:prstGeom prst="rect">
            <a:avLst/>
          </a:prstGeom>
          <a:noFill/>
          <a:ln/>
        </p:spPr>
        <p:txBody>
          <a:bodyPr wrap="square" lIns="0" tIns="0" rIns="0" bIns="0" rtlCol="0" anchor="ctr"/>
          <a:lstStyle/>
          <a:p>
            <a:pPr indent="0" marL="0">
              <a:buNone/>
            </a:pPr>
            <a:r>
              <a:rPr lang="en-US" sz="1100" dirty="0">
                <a:solidFill>
                  <a:srgbClr val="9B9B9B"/>
                </a:solidFill>
                <a:latin typeface="Inter" pitchFamily="34" charset="0"/>
                <a:ea typeface="Inter" pitchFamily="34" charset="-122"/>
                <a:cs typeface="Inter" pitchFamily="34" charset="-120"/>
              </a:rPr>
              <a:t>Zee Abuzeid  ·  Principal PM, Navigator  ·  May 21, 2026  ·  For Martin</a:t>
            </a:r>
            <a:endParaRPr lang="en-US" sz="1100" dirty="0"/>
          </a:p>
        </p:txBody>
      </p:sp>
      <p:sp>
        <p:nvSpPr>
          <p:cNvPr id="9" name="Shape 6"/>
          <p:cNvSpPr/>
          <p:nvPr/>
        </p:nvSpPr>
        <p:spPr>
          <a:xfrm>
            <a:off x="566928" y="4114800"/>
            <a:ext cx="1645920" cy="292608"/>
          </a:xfrm>
          <a:prstGeom prst="roundRect">
            <a:avLst>
              <a:gd name="adj" fmla="val 50000"/>
            </a:avLst>
          </a:prstGeom>
          <a:solidFill>
            <a:srgbClr val="F3F3F3"/>
          </a:solidFill>
          <a:ln w="19050">
            <a:solidFill>
              <a:srgbClr val="FF9600"/>
            </a:solidFill>
            <a:prstDash val="solid"/>
          </a:ln>
        </p:spPr>
      </p:sp>
      <p:sp>
        <p:nvSpPr>
          <p:cNvPr id="10" name="Text 7"/>
          <p:cNvSpPr/>
          <p:nvPr/>
        </p:nvSpPr>
        <p:spPr>
          <a:xfrm>
            <a:off x="566928" y="4114800"/>
            <a:ext cx="1645920" cy="292608"/>
          </a:xfrm>
          <a:prstGeom prst="rect">
            <a:avLst/>
          </a:prstGeom>
          <a:noFill/>
          <a:ln/>
        </p:spPr>
        <p:txBody>
          <a:bodyPr wrap="square" lIns="0" tIns="0" rIns="0" bIns="0" rtlCol="0" anchor="ctr"/>
          <a:lstStyle/>
          <a:p>
            <a:pPr algn="ctr" indent="0" marL="0">
              <a:buNone/>
            </a:pPr>
            <a:r>
              <a:rPr lang="en-US" sz="1000" b="1" dirty="0">
                <a:solidFill>
                  <a:srgbClr val="FF9600"/>
                </a:solidFill>
                <a:latin typeface="Inter" pitchFamily="34" charset="0"/>
                <a:ea typeface="Inter" pitchFamily="34" charset="-122"/>
                <a:cs typeface="Inter" pitchFamily="34" charset="-120"/>
              </a:rPr>
              <a:t>DECISION DECK</a:t>
            </a:r>
            <a:endParaRPr lang="en-US" sz="1000" dirty="0"/>
          </a:p>
        </p:txBody>
      </p:sp>
      <p:pic>
        <p:nvPicPr>
          <p:cNvPr id="11" name="Image 1" descr="preencoded.png">    </p:cNvPr>
          <p:cNvPicPr>
            <a:picLocks noChangeAspect="1"/>
          </p:cNvPicPr>
          <p:nvPr/>
        </p:nvPicPr>
        <p:blipFill>
          <a:blip r:embed="rId2"/>
          <a:stretch>
            <a:fillRect/>
          </a:stretch>
        </p:blipFill>
        <p:spPr>
          <a:xfrm>
            <a:off x="8092440" y="256032"/>
            <a:ext cx="502920" cy="4846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48640"/>
          </a:xfrm>
          <a:prstGeom prst="rect">
            <a:avLst/>
          </a:prstGeom>
          <a:noFill/>
          <a:ln/>
        </p:spPr>
        <p:txBody>
          <a:bodyPr wrap="square" lIns="0" tIns="0" rIns="0" bIns="0" rtlCol="0" anchor="ctr"/>
          <a:lstStyle/>
          <a:p>
            <a:pPr indent="0" marL="0">
              <a:buNone/>
            </a:pPr>
            <a:r>
              <a:rPr lang="en-US" sz="3000" dirty="0">
                <a:solidFill>
                  <a:srgbClr val="090D48"/>
                </a:solidFill>
                <a:latin typeface="Epilogue ExtraBold" pitchFamily="34" charset="0"/>
                <a:ea typeface="Epilogue ExtraBold" pitchFamily="34" charset="-122"/>
                <a:cs typeface="Epilogue ExtraBold" pitchFamily="34" charset="-120"/>
              </a:rPr>
              <a:t>WHERE WE ARE, WHERE WE ARE GOING</a:t>
            </a:r>
            <a:endParaRPr lang="en-US" sz="3000" dirty="0"/>
          </a:p>
        </p:txBody>
      </p:sp>
      <p:sp>
        <p:nvSpPr>
          <p:cNvPr id="3" name="Shape 1"/>
          <p:cNvSpPr/>
          <p:nvPr/>
        </p:nvSpPr>
        <p:spPr>
          <a:xfrm>
            <a:off x="365760" y="1280160"/>
            <a:ext cx="2606040" cy="3337560"/>
          </a:xfrm>
          <a:prstGeom prst="roundRect">
            <a:avLst>
              <a:gd name="adj" fmla="val 4211"/>
            </a:avLst>
          </a:prstGeom>
          <a:solidFill>
            <a:srgbClr val="FFFFFF"/>
          </a:solidFill>
          <a:ln/>
          <a:effectLst>
            <a:outerShdw sx="100000" sy="100000" kx="0" ky="0" algn="bl" rotWithShape="0" blurRad="38100" dist="25400" dir="8100000">
              <a:srgbClr val="000000">
                <a:alpha val="7000"/>
              </a:srgbClr>
            </a:outerShdw>
          </a:effectLst>
        </p:spPr>
      </p:sp>
      <p:sp>
        <p:nvSpPr>
          <p:cNvPr id="4" name="Text 2"/>
          <p:cNvSpPr/>
          <p:nvPr/>
        </p:nvSpPr>
        <p:spPr>
          <a:xfrm>
            <a:off x="566928" y="1481328"/>
            <a:ext cx="2203704" cy="365760"/>
          </a:xfrm>
          <a:prstGeom prst="rect">
            <a:avLst/>
          </a:prstGeom>
          <a:noFill/>
          <a:ln/>
        </p:spPr>
        <p:txBody>
          <a:bodyPr wrap="square" lIns="0" tIns="0" rIns="0" bIns="0" rtlCol="0" anchor="ctr"/>
          <a:lstStyle/>
          <a:p>
            <a:pPr indent="0" marL="0">
              <a:buNone/>
            </a:pPr>
            <a:r>
              <a:rPr lang="en-US" sz="1300" b="1" dirty="0">
                <a:solidFill>
                  <a:srgbClr val="9B9B9B"/>
                </a:solidFill>
                <a:latin typeface="Epilogue" pitchFamily="34" charset="0"/>
                <a:ea typeface="Epilogue" pitchFamily="34" charset="-122"/>
                <a:cs typeface="Epilogue" pitchFamily="34" charset="-120"/>
              </a:rPr>
              <a:t>TODAY</a:t>
            </a:r>
            <a:endParaRPr lang="en-US" sz="1300" dirty="0"/>
          </a:p>
        </p:txBody>
      </p:sp>
      <p:sp>
        <p:nvSpPr>
          <p:cNvPr id="5" name="Text 3"/>
          <p:cNvSpPr/>
          <p:nvPr/>
        </p:nvSpPr>
        <p:spPr>
          <a:xfrm>
            <a:off x="566928" y="1965960"/>
            <a:ext cx="2203704" cy="2468880"/>
          </a:xfrm>
          <a:prstGeom prst="rect">
            <a:avLst/>
          </a:prstGeom>
          <a:noFill/>
          <a:ln/>
        </p:spPr>
        <p:txBody>
          <a:bodyPr wrap="square" lIns="0" tIns="0" rIns="0" bIns="0" rtlCol="0" anchor="t"/>
          <a:lstStyle/>
          <a:p>
            <a:pPr indent="0" marL="0">
              <a:lnSpc>
                <a:spcPct val="145000"/>
              </a:lnSpc>
              <a:buNone/>
            </a:pPr>
            <a:r>
              <a:rPr lang="en-US" sz="1200" dirty="0">
                <a:solidFill>
                  <a:srgbClr val="9B9B9B"/>
                </a:solidFill>
                <a:latin typeface="Inter" pitchFamily="34" charset="0"/>
                <a:ea typeface="Inter" pitchFamily="34" charset="-122"/>
                <a:cs typeface="Inter" pitchFamily="34" charset="-120"/>
              </a:rPr>
              <a:t>Q2+ roadmap is four bets: Navigator 2.0, Activation Concierge, MCP + A2A, Analytics. In progress, on track, but built before Staffbase MCP and Search unification were on the table.</a:t>
            </a:r>
            <a:endParaRPr lang="en-US" sz="1200" dirty="0"/>
          </a:p>
        </p:txBody>
      </p:sp>
      <p:sp>
        <p:nvSpPr>
          <p:cNvPr id="6" name="Shape 4"/>
          <p:cNvSpPr/>
          <p:nvPr/>
        </p:nvSpPr>
        <p:spPr>
          <a:xfrm>
            <a:off x="3200400" y="1280160"/>
            <a:ext cx="2606040" cy="3337560"/>
          </a:xfrm>
          <a:prstGeom prst="roundRect">
            <a:avLst>
              <a:gd name="adj" fmla="val 4211"/>
            </a:avLst>
          </a:prstGeom>
          <a:solidFill>
            <a:srgbClr val="FFFFFF"/>
          </a:solidFill>
          <a:ln/>
          <a:effectLst>
            <a:outerShdw sx="100000" sy="100000" kx="0" ky="0" algn="bl" rotWithShape="0" blurRad="38100" dist="25400" dir="8100000">
              <a:srgbClr val="000000">
                <a:alpha val="7000"/>
              </a:srgbClr>
            </a:outerShdw>
          </a:effectLst>
        </p:spPr>
      </p:sp>
      <p:sp>
        <p:nvSpPr>
          <p:cNvPr id="7" name="Text 5"/>
          <p:cNvSpPr/>
          <p:nvPr/>
        </p:nvSpPr>
        <p:spPr>
          <a:xfrm>
            <a:off x="3401568" y="1481328"/>
            <a:ext cx="2203704" cy="365760"/>
          </a:xfrm>
          <a:prstGeom prst="rect">
            <a:avLst/>
          </a:prstGeom>
          <a:noFill/>
          <a:ln/>
        </p:spPr>
        <p:txBody>
          <a:bodyPr wrap="square" lIns="0" tIns="0" rIns="0" bIns="0" rtlCol="0" anchor="ctr"/>
          <a:lstStyle/>
          <a:p>
            <a:pPr indent="0" marL="0">
              <a:buNone/>
            </a:pPr>
            <a:r>
              <a:rPr lang="en-US" sz="1300" b="1" dirty="0">
                <a:solidFill>
                  <a:srgbClr val="23B4FF"/>
                </a:solidFill>
                <a:latin typeface="Epilogue" pitchFamily="34" charset="0"/>
                <a:ea typeface="Epilogue" pitchFamily="34" charset="-122"/>
                <a:cs typeface="Epilogue" pitchFamily="34" charset="-120"/>
              </a:rPr>
              <a:t>THE RESHAPE</a:t>
            </a:r>
            <a:endParaRPr lang="en-US" sz="1300" dirty="0"/>
          </a:p>
        </p:txBody>
      </p:sp>
      <p:sp>
        <p:nvSpPr>
          <p:cNvPr id="8" name="Text 6"/>
          <p:cNvSpPr/>
          <p:nvPr/>
        </p:nvSpPr>
        <p:spPr>
          <a:xfrm>
            <a:off x="3401568" y="1965960"/>
            <a:ext cx="2203704" cy="2468880"/>
          </a:xfrm>
          <a:prstGeom prst="rect">
            <a:avLst/>
          </a:prstGeom>
          <a:noFill/>
          <a:ln/>
        </p:spPr>
        <p:txBody>
          <a:bodyPr wrap="square" lIns="0" tIns="0" rIns="0" bIns="0" rtlCol="0" anchor="t"/>
          <a:lstStyle/>
          <a:p>
            <a:pPr indent="0" marL="0">
              <a:lnSpc>
                <a:spcPct val="145000"/>
              </a:lnSpc>
              <a:buNone/>
            </a:pPr>
            <a:r>
              <a:rPr lang="en-US" sz="1200" dirty="0">
                <a:solidFill>
                  <a:srgbClr val="090D48"/>
                </a:solidFill>
                <a:latin typeface="Inter" pitchFamily="34" charset="0"/>
                <a:ea typeface="Inter" pitchFamily="34" charset="-122"/>
                <a:cs typeface="Inter" pitchFamily="34" charset="-120"/>
              </a:rPr>
              <a:t>Same foundations, sharper edges. Seven bets total: four existing ones now better scoped, three net new strategic adds. Same delivery cycle, same headcount, bigger surface.</a:t>
            </a:r>
            <a:endParaRPr lang="en-US" sz="1200" dirty="0"/>
          </a:p>
        </p:txBody>
      </p:sp>
      <p:sp>
        <p:nvSpPr>
          <p:cNvPr id="9" name="Shape 7"/>
          <p:cNvSpPr/>
          <p:nvPr/>
        </p:nvSpPr>
        <p:spPr>
          <a:xfrm>
            <a:off x="6035040" y="1280160"/>
            <a:ext cx="2606040" cy="3337560"/>
          </a:xfrm>
          <a:prstGeom prst="roundRect">
            <a:avLst>
              <a:gd name="adj" fmla="val 4211"/>
            </a:avLst>
          </a:prstGeom>
          <a:solidFill>
            <a:srgbClr val="FFFFFF"/>
          </a:solidFill>
          <a:ln/>
          <a:effectLst>
            <a:outerShdw sx="100000" sy="100000" kx="0" ky="0" algn="bl" rotWithShape="0" blurRad="38100" dist="25400" dir="8100000">
              <a:srgbClr val="000000">
                <a:alpha val="7000"/>
              </a:srgbClr>
            </a:outerShdw>
          </a:effectLst>
        </p:spPr>
      </p:sp>
      <p:sp>
        <p:nvSpPr>
          <p:cNvPr id="10" name="Text 8"/>
          <p:cNvSpPr/>
          <p:nvPr/>
        </p:nvSpPr>
        <p:spPr>
          <a:xfrm>
            <a:off x="6236208" y="1481328"/>
            <a:ext cx="2203704" cy="365760"/>
          </a:xfrm>
          <a:prstGeom prst="rect">
            <a:avLst/>
          </a:prstGeom>
          <a:noFill/>
          <a:ln/>
        </p:spPr>
        <p:txBody>
          <a:bodyPr wrap="square" lIns="0" tIns="0" rIns="0" bIns="0" rtlCol="0" anchor="ctr"/>
          <a:lstStyle/>
          <a:p>
            <a:pPr indent="0" marL="0">
              <a:buNone/>
            </a:pPr>
            <a:r>
              <a:rPr lang="en-US" sz="1300" b="1" dirty="0">
                <a:solidFill>
                  <a:srgbClr val="FF9600"/>
                </a:solidFill>
                <a:latin typeface="Epilogue" pitchFamily="34" charset="0"/>
                <a:ea typeface="Epilogue" pitchFamily="34" charset="-122"/>
                <a:cs typeface="Epilogue" pitchFamily="34" charset="-120"/>
              </a:rPr>
              <a:t>THE PRIZE</a:t>
            </a:r>
            <a:endParaRPr lang="en-US" sz="1300" dirty="0"/>
          </a:p>
        </p:txBody>
      </p:sp>
      <p:sp>
        <p:nvSpPr>
          <p:cNvPr id="11" name="Text 9"/>
          <p:cNvSpPr/>
          <p:nvPr/>
        </p:nvSpPr>
        <p:spPr>
          <a:xfrm>
            <a:off x="6236208" y="1965960"/>
            <a:ext cx="2203704" cy="2468880"/>
          </a:xfrm>
          <a:prstGeom prst="rect">
            <a:avLst/>
          </a:prstGeom>
          <a:noFill/>
          <a:ln/>
        </p:spPr>
        <p:txBody>
          <a:bodyPr wrap="square" lIns="0" tIns="0" rIns="0" bIns="0" rtlCol="0" anchor="t"/>
          <a:lstStyle/>
          <a:p>
            <a:pPr indent="0" marL="0">
              <a:lnSpc>
                <a:spcPct val="145000"/>
              </a:lnSpc>
              <a:buNone/>
            </a:pPr>
            <a:r>
              <a:rPr lang="en-US" sz="1200" dirty="0">
                <a:solidFill>
                  <a:srgbClr val="090D48"/>
                </a:solidFill>
                <a:latin typeface="Inter" pitchFamily="34" charset="0"/>
                <a:ea typeface="Inter" pitchFamily="34" charset="-122"/>
                <a:cs typeface="Inter" pitchFamily="34" charset="-120"/>
              </a:rPr>
              <a:t>6M intranet MAU is the TAM. AI MAU today is roughly 20K. The year-end ambition is 1M, the year-end goal we have committed to externally. The 7 bets are the path.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1097280"/>
            <a:ext cx="8412480" cy="1371600"/>
          </a:xfrm>
          <a:prstGeom prst="rect">
            <a:avLst/>
          </a:prstGeom>
          <a:noFill/>
          <a:ln/>
        </p:spPr>
        <p:txBody>
          <a:bodyPr wrap="square" lIns="0" tIns="0" rIns="0" bIns="0" rtlCol="0" anchor="ctr"/>
          <a:lstStyle/>
          <a:p>
            <a:pPr algn="l" indent="0" marL="0">
              <a:buNone/>
            </a:pPr>
            <a:r>
              <a:rPr lang="en-US" sz="8000" dirty="0">
                <a:solidFill>
                  <a:srgbClr val="23B4FF"/>
                </a:solidFill>
                <a:latin typeface="Epilogue ExtraBold" pitchFamily="34" charset="0"/>
                <a:ea typeface="Epilogue ExtraBold" pitchFamily="34" charset="-122"/>
                <a:cs typeface="Epilogue ExtraBold" pitchFamily="34" charset="-120"/>
              </a:rPr>
              <a:t>01</a:t>
            </a:r>
            <a:endParaRPr lang="en-US" sz="8000" dirty="0"/>
          </a:p>
        </p:txBody>
      </p:sp>
      <p:sp>
        <p:nvSpPr>
          <p:cNvPr id="3" name="Text 1"/>
          <p:cNvSpPr/>
          <p:nvPr/>
        </p:nvSpPr>
        <p:spPr>
          <a:xfrm>
            <a:off x="365760" y="2651760"/>
            <a:ext cx="8412480" cy="731520"/>
          </a:xfrm>
          <a:prstGeom prst="rect">
            <a:avLst/>
          </a:prstGeom>
          <a:noFill/>
          <a:ln/>
        </p:spPr>
        <p:txBody>
          <a:bodyPr wrap="square" lIns="0" tIns="0" rIns="0" bIns="0" rtlCol="0" anchor="ctr"/>
          <a:lstStyle/>
          <a:p>
            <a:pPr algn="l" indent="0" marL="0">
              <a:buNone/>
            </a:pPr>
            <a:r>
              <a:rPr lang="en-US" sz="4400" dirty="0">
                <a:solidFill>
                  <a:srgbClr val="090D48"/>
                </a:solidFill>
                <a:latin typeface="Epilogue ExtraBold" pitchFamily="34" charset="0"/>
                <a:ea typeface="Epilogue ExtraBold" pitchFamily="34" charset="-122"/>
                <a:cs typeface="Epilogue ExtraBold" pitchFamily="34" charset="-120"/>
              </a:rPr>
              <a:t>THE SEVEN BETS</a:t>
            </a:r>
            <a:endParaRPr lang="en-US" sz="4400" dirty="0"/>
          </a:p>
        </p:txBody>
      </p:sp>
      <p:sp>
        <p:nvSpPr>
          <p:cNvPr id="4" name="Text 2"/>
          <p:cNvSpPr/>
          <p:nvPr/>
        </p:nvSpPr>
        <p:spPr>
          <a:xfrm>
            <a:off x="365760" y="3520440"/>
            <a:ext cx="8412480" cy="365760"/>
          </a:xfrm>
          <a:prstGeom prst="rect">
            <a:avLst/>
          </a:prstGeom>
          <a:noFill/>
          <a:ln/>
        </p:spPr>
        <p:txBody>
          <a:bodyPr wrap="square" lIns="0" tIns="0" rIns="0" bIns="0" rtlCol="0" anchor="ctr"/>
          <a:lstStyle/>
          <a:p>
            <a:pPr algn="l" indent="0" marL="0">
              <a:buNone/>
            </a:pPr>
            <a:r>
              <a:rPr lang="en-US" sz="1400" dirty="0">
                <a:solidFill>
                  <a:srgbClr val="9B9B9B"/>
                </a:solidFill>
                <a:latin typeface="Inter" pitchFamily="34" charset="0"/>
                <a:ea typeface="Inter" pitchFamily="34" charset="-122"/>
                <a:cs typeface="Inter" pitchFamily="34" charset="-120"/>
              </a:rPr>
              <a:t>Three sharpened. Four net new. One unified Navigator.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2800" dirty="0">
                <a:solidFill>
                  <a:srgbClr val="090D48"/>
                </a:solidFill>
                <a:latin typeface="Epilogue ExtraBold" pitchFamily="34" charset="0"/>
                <a:ea typeface="Epilogue ExtraBold" pitchFamily="34" charset="-122"/>
                <a:cs typeface="Epilogue ExtraBold" pitchFamily="34" charset="-120"/>
              </a:rPr>
              <a:t>THE SEVEN BETS AT A GLANCE</a:t>
            </a:r>
            <a:endParaRPr lang="en-US" sz="28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000" b="1" dirty="0">
                <a:solidFill>
                  <a:srgbClr val="FF9600"/>
                </a:solidFill>
                <a:latin typeface="Inter" pitchFamily="34" charset="0"/>
                <a:ea typeface="Inter" pitchFamily="34" charset="-122"/>
                <a:cs typeface="Inter" pitchFamily="34" charset="-120"/>
              </a:rPr>
              <a:t>SHARPENED FROM EXISTING ROADMAP   ·   NET NEW STRATEGIC ADDS</a:t>
            </a:r>
            <a:endParaRPr lang="en-US" sz="1000" dirty="0"/>
          </a:p>
        </p:txBody>
      </p:sp>
      <p:sp>
        <p:nvSpPr>
          <p:cNvPr id="4" name="Shape 2"/>
          <p:cNvSpPr/>
          <p:nvPr/>
        </p:nvSpPr>
        <p:spPr>
          <a:xfrm>
            <a:off x="365760" y="1280160"/>
            <a:ext cx="2694432" cy="1417320"/>
          </a:xfrm>
          <a:prstGeom prst="roundRect">
            <a:avLst>
              <a:gd name="adj" fmla="val 6452"/>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5" name="Text 3"/>
          <p:cNvSpPr/>
          <p:nvPr/>
        </p:nvSpPr>
        <p:spPr>
          <a:xfrm>
            <a:off x="530352" y="1389888"/>
            <a:ext cx="731520" cy="365760"/>
          </a:xfrm>
          <a:prstGeom prst="rect">
            <a:avLst/>
          </a:prstGeom>
          <a:noFill/>
          <a:ln/>
        </p:spPr>
        <p:txBody>
          <a:bodyPr wrap="square" lIns="0" tIns="0" rIns="0" bIns="0" rtlCol="0" anchor="ctr"/>
          <a:lstStyle/>
          <a:p>
            <a:pPr indent="0" marL="0">
              <a:buNone/>
            </a:pPr>
            <a:r>
              <a:rPr lang="en-US" sz="1800" dirty="0">
                <a:solidFill>
                  <a:srgbClr val="23B4FF"/>
                </a:solidFill>
                <a:latin typeface="Epilogue ExtraBold" pitchFamily="34" charset="0"/>
                <a:ea typeface="Epilogue ExtraBold" pitchFamily="34" charset="-122"/>
                <a:cs typeface="Epilogue ExtraBold" pitchFamily="34" charset="-120"/>
              </a:rPr>
              <a:t>01</a:t>
            </a:r>
            <a:endParaRPr lang="en-US" sz="1800" dirty="0"/>
          </a:p>
        </p:txBody>
      </p:sp>
      <p:sp>
        <p:nvSpPr>
          <p:cNvPr id="6" name="Text 4"/>
          <p:cNvSpPr/>
          <p:nvPr/>
        </p:nvSpPr>
        <p:spPr>
          <a:xfrm>
            <a:off x="530352" y="1783080"/>
            <a:ext cx="2365248" cy="365760"/>
          </a:xfrm>
          <a:prstGeom prst="rect">
            <a:avLst/>
          </a:prstGeom>
          <a:noFill/>
          <a:ln/>
        </p:spPr>
        <p:txBody>
          <a:bodyPr wrap="square" lIns="0" tIns="0" rIns="0" bIns="0" rtlCol="0" anchor="ctr"/>
          <a:lstStyle/>
          <a:p>
            <a:pPr indent="0" marL="0">
              <a:buNone/>
            </a:pPr>
            <a:r>
              <a:rPr lang="en-US" sz="1200" b="1" dirty="0">
                <a:solidFill>
                  <a:srgbClr val="090D48"/>
                </a:solidFill>
                <a:latin typeface="Epilogue" pitchFamily="34" charset="0"/>
                <a:ea typeface="Epilogue" pitchFamily="34" charset="-122"/>
                <a:cs typeface="Epilogue" pitchFamily="34" charset="-120"/>
              </a:rPr>
              <a:t>CONVERSATION 2.0</a:t>
            </a:r>
            <a:endParaRPr lang="en-US" sz="1200" dirty="0"/>
          </a:p>
        </p:txBody>
      </p:sp>
      <p:sp>
        <p:nvSpPr>
          <p:cNvPr id="7" name="Text 5"/>
          <p:cNvSpPr/>
          <p:nvPr/>
        </p:nvSpPr>
        <p:spPr>
          <a:xfrm>
            <a:off x="530352" y="2176272"/>
            <a:ext cx="2365248" cy="457200"/>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History, continuity, push-to-talk, rich UI, model-suggested next steps.</a:t>
            </a:r>
            <a:endParaRPr lang="en-US" sz="950" dirty="0"/>
          </a:p>
        </p:txBody>
      </p:sp>
      <p:sp>
        <p:nvSpPr>
          <p:cNvPr id="8" name="Shape 6"/>
          <p:cNvSpPr/>
          <p:nvPr/>
        </p:nvSpPr>
        <p:spPr>
          <a:xfrm>
            <a:off x="3224784" y="1280160"/>
            <a:ext cx="2694432" cy="1417320"/>
          </a:xfrm>
          <a:prstGeom prst="roundRect">
            <a:avLst>
              <a:gd name="adj" fmla="val 6452"/>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9" name="Text 7"/>
          <p:cNvSpPr/>
          <p:nvPr/>
        </p:nvSpPr>
        <p:spPr>
          <a:xfrm>
            <a:off x="3389376" y="1389888"/>
            <a:ext cx="731520" cy="365760"/>
          </a:xfrm>
          <a:prstGeom prst="rect">
            <a:avLst/>
          </a:prstGeom>
          <a:noFill/>
          <a:ln/>
        </p:spPr>
        <p:txBody>
          <a:bodyPr wrap="square" lIns="0" tIns="0" rIns="0" bIns="0" rtlCol="0" anchor="ctr"/>
          <a:lstStyle/>
          <a:p>
            <a:pPr indent="0" marL="0">
              <a:buNone/>
            </a:pPr>
            <a:r>
              <a:rPr lang="en-US" sz="1800" dirty="0">
                <a:solidFill>
                  <a:srgbClr val="23B4FF"/>
                </a:solidFill>
                <a:latin typeface="Epilogue ExtraBold" pitchFamily="34" charset="0"/>
                <a:ea typeface="Epilogue ExtraBold" pitchFamily="34" charset="-122"/>
                <a:cs typeface="Epilogue ExtraBold" pitchFamily="34" charset="-120"/>
              </a:rPr>
              <a:t>02</a:t>
            </a:r>
            <a:endParaRPr lang="en-US" sz="1800" dirty="0"/>
          </a:p>
        </p:txBody>
      </p:sp>
      <p:sp>
        <p:nvSpPr>
          <p:cNvPr id="10" name="Text 8"/>
          <p:cNvSpPr/>
          <p:nvPr/>
        </p:nvSpPr>
        <p:spPr>
          <a:xfrm>
            <a:off x="3389376" y="1783080"/>
            <a:ext cx="2365248" cy="365760"/>
          </a:xfrm>
          <a:prstGeom prst="rect">
            <a:avLst/>
          </a:prstGeom>
          <a:noFill/>
          <a:ln/>
        </p:spPr>
        <p:txBody>
          <a:bodyPr wrap="square" lIns="0" tIns="0" rIns="0" bIns="0" rtlCol="0" anchor="ctr"/>
          <a:lstStyle/>
          <a:p>
            <a:pPr indent="0" marL="0">
              <a:buNone/>
            </a:pPr>
            <a:r>
              <a:rPr lang="en-US" sz="1200" b="1" dirty="0">
                <a:solidFill>
                  <a:srgbClr val="090D48"/>
                </a:solidFill>
                <a:latin typeface="Epilogue" pitchFamily="34" charset="0"/>
                <a:ea typeface="Epilogue" pitchFamily="34" charset="-122"/>
                <a:cs typeface="Epilogue" pitchFamily="34" charset="-120"/>
              </a:rPr>
              <a:t>ASSISTANTS 2.0</a:t>
            </a:r>
            <a:endParaRPr lang="en-US" sz="1200" dirty="0"/>
          </a:p>
        </p:txBody>
      </p:sp>
      <p:sp>
        <p:nvSpPr>
          <p:cNvPr id="11" name="Text 9"/>
          <p:cNvSpPr/>
          <p:nvPr/>
        </p:nvSpPr>
        <p:spPr>
          <a:xfrm>
            <a:off x="3389376" y="2176272"/>
            <a:ext cx="2365248" cy="457200"/>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Targeting, templates, AI generation, MCP/A2A integration.</a:t>
            </a:r>
            <a:endParaRPr lang="en-US" sz="950" dirty="0"/>
          </a:p>
        </p:txBody>
      </p:sp>
      <p:sp>
        <p:nvSpPr>
          <p:cNvPr id="12" name="Shape 10"/>
          <p:cNvSpPr/>
          <p:nvPr/>
        </p:nvSpPr>
        <p:spPr>
          <a:xfrm>
            <a:off x="6083808" y="1280160"/>
            <a:ext cx="2694432" cy="1417320"/>
          </a:xfrm>
          <a:prstGeom prst="roundRect">
            <a:avLst>
              <a:gd name="adj" fmla="val 6452"/>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13" name="Text 11"/>
          <p:cNvSpPr/>
          <p:nvPr/>
        </p:nvSpPr>
        <p:spPr>
          <a:xfrm>
            <a:off x="6248400" y="1389888"/>
            <a:ext cx="731520" cy="365760"/>
          </a:xfrm>
          <a:prstGeom prst="rect">
            <a:avLst/>
          </a:prstGeom>
          <a:noFill/>
          <a:ln/>
        </p:spPr>
        <p:txBody>
          <a:bodyPr wrap="square" lIns="0" tIns="0" rIns="0" bIns="0" rtlCol="0" anchor="ctr"/>
          <a:lstStyle/>
          <a:p>
            <a:pPr indent="0" marL="0">
              <a:buNone/>
            </a:pPr>
            <a:r>
              <a:rPr lang="en-US" sz="1800" dirty="0">
                <a:solidFill>
                  <a:srgbClr val="23B4FF"/>
                </a:solidFill>
                <a:latin typeface="Epilogue ExtraBold" pitchFamily="34" charset="0"/>
                <a:ea typeface="Epilogue ExtraBold" pitchFamily="34" charset="-122"/>
                <a:cs typeface="Epilogue ExtraBold" pitchFamily="34" charset="-120"/>
              </a:rPr>
              <a:t>03</a:t>
            </a:r>
            <a:endParaRPr lang="en-US" sz="1800" dirty="0"/>
          </a:p>
        </p:txBody>
      </p:sp>
      <p:sp>
        <p:nvSpPr>
          <p:cNvPr id="14" name="Text 12"/>
          <p:cNvSpPr/>
          <p:nvPr/>
        </p:nvSpPr>
        <p:spPr>
          <a:xfrm>
            <a:off x="6248400" y="1783080"/>
            <a:ext cx="2365248" cy="365760"/>
          </a:xfrm>
          <a:prstGeom prst="rect">
            <a:avLst/>
          </a:prstGeom>
          <a:noFill/>
          <a:ln/>
        </p:spPr>
        <p:txBody>
          <a:bodyPr wrap="square" lIns="0" tIns="0" rIns="0" bIns="0" rtlCol="0" anchor="ctr"/>
          <a:lstStyle/>
          <a:p>
            <a:pPr indent="0" marL="0">
              <a:buNone/>
            </a:pPr>
            <a:r>
              <a:rPr lang="en-US" sz="1200" b="1" dirty="0">
                <a:solidFill>
                  <a:srgbClr val="090D48"/>
                </a:solidFill>
                <a:latin typeface="Epilogue" pitchFamily="34" charset="0"/>
                <a:ea typeface="Epilogue" pitchFamily="34" charset="-122"/>
                <a:cs typeface="Epilogue" pitchFamily="34" charset="-120"/>
              </a:rPr>
              <a:t>ACTIONABLE ANALYTICS</a:t>
            </a:r>
            <a:endParaRPr lang="en-US" sz="1200" dirty="0"/>
          </a:p>
        </p:txBody>
      </p:sp>
      <p:sp>
        <p:nvSpPr>
          <p:cNvPr id="15" name="Text 13"/>
          <p:cNvSpPr/>
          <p:nvPr/>
        </p:nvSpPr>
        <p:spPr>
          <a:xfrm>
            <a:off x="6248400" y="2176272"/>
            <a:ext cx="2365248" cy="457200"/>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Aggregated insights, robust evals, AI-suggested admin actions.</a:t>
            </a:r>
            <a:endParaRPr lang="en-US" sz="950" dirty="0"/>
          </a:p>
        </p:txBody>
      </p:sp>
      <p:sp>
        <p:nvSpPr>
          <p:cNvPr id="16" name="Shape 14"/>
          <p:cNvSpPr/>
          <p:nvPr/>
        </p:nvSpPr>
        <p:spPr>
          <a:xfrm>
            <a:off x="365760" y="2907792"/>
            <a:ext cx="2000250" cy="1691640"/>
          </a:xfrm>
          <a:prstGeom prst="roundRect">
            <a:avLst>
              <a:gd name="adj" fmla="val 5405"/>
            </a:avLst>
          </a:prstGeom>
          <a:solidFill>
            <a:srgbClr val="FFF5E8"/>
          </a:solidFill>
          <a:ln w="12700">
            <a:solidFill>
              <a:srgbClr val="FF9600"/>
            </a:solidFill>
            <a:prstDash val="solid"/>
          </a:ln>
          <a:effectLst>
            <a:outerShdw sx="100000" sy="100000" kx="0" ky="0" algn="bl" rotWithShape="0" blurRad="38100" dist="25400" dir="8100000">
              <a:srgbClr val="000000">
                <a:alpha val="7000"/>
              </a:srgbClr>
            </a:outerShdw>
          </a:effectLst>
        </p:spPr>
      </p:sp>
      <p:sp>
        <p:nvSpPr>
          <p:cNvPr id="17" name="Shape 15"/>
          <p:cNvSpPr/>
          <p:nvPr/>
        </p:nvSpPr>
        <p:spPr>
          <a:xfrm>
            <a:off x="1799082" y="3017520"/>
            <a:ext cx="457200" cy="201168"/>
          </a:xfrm>
          <a:prstGeom prst="roundRect">
            <a:avLst>
              <a:gd name="adj" fmla="val 22727"/>
            </a:avLst>
          </a:prstGeom>
          <a:solidFill>
            <a:srgbClr val="FF9600"/>
          </a:solidFill>
          <a:ln w="12700">
            <a:solidFill>
              <a:srgbClr val="FF9600"/>
            </a:solidFill>
            <a:prstDash val="solid"/>
          </a:ln>
        </p:spPr>
      </p:sp>
      <p:sp>
        <p:nvSpPr>
          <p:cNvPr id="18" name="Text 16"/>
          <p:cNvSpPr/>
          <p:nvPr/>
        </p:nvSpPr>
        <p:spPr>
          <a:xfrm>
            <a:off x="1799082" y="3017520"/>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Inter" pitchFamily="34" charset="0"/>
                <a:ea typeface="Inter" pitchFamily="34" charset="-122"/>
                <a:cs typeface="Inter" pitchFamily="34" charset="-120"/>
              </a:rPr>
              <a:t>NEW</a:t>
            </a:r>
            <a:endParaRPr lang="en-US" sz="800" dirty="0"/>
          </a:p>
        </p:txBody>
      </p:sp>
      <p:sp>
        <p:nvSpPr>
          <p:cNvPr id="19" name="Text 17"/>
          <p:cNvSpPr/>
          <p:nvPr/>
        </p:nvSpPr>
        <p:spPr>
          <a:xfrm>
            <a:off x="502920" y="3017520"/>
            <a:ext cx="731520" cy="365760"/>
          </a:xfrm>
          <a:prstGeom prst="rect">
            <a:avLst/>
          </a:prstGeom>
          <a:noFill/>
          <a:ln/>
        </p:spPr>
        <p:txBody>
          <a:bodyPr wrap="square" lIns="0" tIns="0" rIns="0" bIns="0" rtlCol="0" anchor="ctr"/>
          <a:lstStyle/>
          <a:p>
            <a:pPr indent="0" marL="0">
              <a:buNone/>
            </a:pPr>
            <a:r>
              <a:rPr lang="en-US" sz="1800" dirty="0">
                <a:solidFill>
                  <a:srgbClr val="FF9600"/>
                </a:solidFill>
                <a:latin typeface="Epilogue ExtraBold" pitchFamily="34" charset="0"/>
                <a:ea typeface="Epilogue ExtraBold" pitchFamily="34" charset="-122"/>
                <a:cs typeface="Epilogue ExtraBold" pitchFamily="34" charset="-120"/>
              </a:rPr>
              <a:t>04</a:t>
            </a:r>
            <a:endParaRPr lang="en-US" sz="1800" dirty="0"/>
          </a:p>
        </p:txBody>
      </p:sp>
      <p:sp>
        <p:nvSpPr>
          <p:cNvPr id="20" name="Text 18"/>
          <p:cNvSpPr/>
          <p:nvPr/>
        </p:nvSpPr>
        <p:spPr>
          <a:xfrm>
            <a:off x="502920" y="3410712"/>
            <a:ext cx="1725930" cy="640080"/>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NAVIGATOR CONCIERGE</a:t>
            </a:r>
            <a:endParaRPr lang="en-US" sz="1100" dirty="0"/>
          </a:p>
        </p:txBody>
      </p:sp>
      <p:sp>
        <p:nvSpPr>
          <p:cNvPr id="21" name="Text 19"/>
          <p:cNvSpPr/>
          <p:nvPr/>
        </p:nvSpPr>
        <p:spPr>
          <a:xfrm>
            <a:off x="502920" y="4023360"/>
            <a:ext cx="1725930" cy="502920"/>
          </a:xfrm>
          <a:prstGeom prst="rect">
            <a:avLst/>
          </a:prstGeom>
          <a:noFill/>
          <a:ln/>
        </p:spPr>
        <p:txBody>
          <a:bodyPr wrap="square" lIns="0" tIns="0" rIns="0" bIns="0" rtlCol="0" anchor="t"/>
          <a:lstStyle/>
          <a:p>
            <a:pPr indent="0" marL="0">
              <a:lnSpc>
                <a:spcPct val="130000"/>
              </a:lnSpc>
              <a:buNone/>
            </a:pPr>
            <a:r>
              <a:rPr lang="en-US" sz="850" dirty="0">
                <a:solidFill>
                  <a:srgbClr val="090D48"/>
                </a:solidFill>
                <a:latin typeface="Inter" pitchFamily="34" charset="0"/>
                <a:ea typeface="Inter" pitchFamily="34" charset="-122"/>
                <a:cs typeface="Inter" pitchFamily="34" charset="-120"/>
              </a:rPr>
              <a:t>Zero-friction onboarding &amp; AI setup for every tenant.</a:t>
            </a:r>
            <a:endParaRPr lang="en-US" sz="850" dirty="0"/>
          </a:p>
        </p:txBody>
      </p:sp>
      <p:sp>
        <p:nvSpPr>
          <p:cNvPr id="22" name="Shape 20"/>
          <p:cNvSpPr/>
          <p:nvPr/>
        </p:nvSpPr>
        <p:spPr>
          <a:xfrm>
            <a:off x="2503170" y="2907792"/>
            <a:ext cx="2000250" cy="1691640"/>
          </a:xfrm>
          <a:prstGeom prst="roundRect">
            <a:avLst>
              <a:gd name="adj" fmla="val 5405"/>
            </a:avLst>
          </a:prstGeom>
          <a:solidFill>
            <a:srgbClr val="FFF5E8"/>
          </a:solidFill>
          <a:ln w="12700">
            <a:solidFill>
              <a:srgbClr val="FF9600"/>
            </a:solidFill>
            <a:prstDash val="solid"/>
          </a:ln>
          <a:effectLst>
            <a:outerShdw sx="100000" sy="100000" kx="0" ky="0" algn="bl" rotWithShape="0" blurRad="38100" dist="25400" dir="8100000">
              <a:srgbClr val="000000">
                <a:alpha val="7000"/>
              </a:srgbClr>
            </a:outerShdw>
          </a:effectLst>
        </p:spPr>
      </p:sp>
      <p:sp>
        <p:nvSpPr>
          <p:cNvPr id="23" name="Shape 21"/>
          <p:cNvSpPr/>
          <p:nvPr/>
        </p:nvSpPr>
        <p:spPr>
          <a:xfrm>
            <a:off x="3936492" y="3017520"/>
            <a:ext cx="457200" cy="201168"/>
          </a:xfrm>
          <a:prstGeom prst="roundRect">
            <a:avLst>
              <a:gd name="adj" fmla="val 22727"/>
            </a:avLst>
          </a:prstGeom>
          <a:solidFill>
            <a:srgbClr val="FF9600"/>
          </a:solidFill>
          <a:ln w="12700">
            <a:solidFill>
              <a:srgbClr val="FF9600"/>
            </a:solidFill>
            <a:prstDash val="solid"/>
          </a:ln>
        </p:spPr>
      </p:sp>
      <p:sp>
        <p:nvSpPr>
          <p:cNvPr id="24" name="Text 22"/>
          <p:cNvSpPr/>
          <p:nvPr/>
        </p:nvSpPr>
        <p:spPr>
          <a:xfrm>
            <a:off x="3936492" y="3017520"/>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Inter" pitchFamily="34" charset="0"/>
                <a:ea typeface="Inter" pitchFamily="34" charset="-122"/>
                <a:cs typeface="Inter" pitchFamily="34" charset="-120"/>
              </a:rPr>
              <a:t>NEW</a:t>
            </a:r>
            <a:endParaRPr lang="en-US" sz="800" dirty="0"/>
          </a:p>
        </p:txBody>
      </p:sp>
      <p:sp>
        <p:nvSpPr>
          <p:cNvPr id="25" name="Text 23"/>
          <p:cNvSpPr/>
          <p:nvPr/>
        </p:nvSpPr>
        <p:spPr>
          <a:xfrm>
            <a:off x="2640330" y="3017520"/>
            <a:ext cx="731520" cy="365760"/>
          </a:xfrm>
          <a:prstGeom prst="rect">
            <a:avLst/>
          </a:prstGeom>
          <a:noFill/>
          <a:ln/>
        </p:spPr>
        <p:txBody>
          <a:bodyPr wrap="square" lIns="0" tIns="0" rIns="0" bIns="0" rtlCol="0" anchor="ctr"/>
          <a:lstStyle/>
          <a:p>
            <a:pPr indent="0" marL="0">
              <a:buNone/>
            </a:pPr>
            <a:r>
              <a:rPr lang="en-US" sz="1800" dirty="0">
                <a:solidFill>
                  <a:srgbClr val="FF9600"/>
                </a:solidFill>
                <a:latin typeface="Epilogue ExtraBold" pitchFamily="34" charset="0"/>
                <a:ea typeface="Epilogue ExtraBold" pitchFamily="34" charset="-122"/>
                <a:cs typeface="Epilogue ExtraBold" pitchFamily="34" charset="-120"/>
              </a:rPr>
              <a:t>05</a:t>
            </a:r>
            <a:endParaRPr lang="en-US" sz="1800" dirty="0"/>
          </a:p>
        </p:txBody>
      </p:sp>
      <p:sp>
        <p:nvSpPr>
          <p:cNvPr id="26" name="Text 24"/>
          <p:cNvSpPr/>
          <p:nvPr/>
        </p:nvSpPr>
        <p:spPr>
          <a:xfrm>
            <a:off x="2640330" y="3410712"/>
            <a:ext cx="1725930" cy="640080"/>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MCP + A2A ORCHESTRATION</a:t>
            </a:r>
            <a:endParaRPr lang="en-US" sz="1100" dirty="0"/>
          </a:p>
        </p:txBody>
      </p:sp>
      <p:sp>
        <p:nvSpPr>
          <p:cNvPr id="27" name="Text 25"/>
          <p:cNvSpPr/>
          <p:nvPr/>
        </p:nvSpPr>
        <p:spPr>
          <a:xfrm>
            <a:off x="2640330" y="4023360"/>
            <a:ext cx="1725930" cy="502920"/>
          </a:xfrm>
          <a:prstGeom prst="rect">
            <a:avLst/>
          </a:prstGeom>
          <a:noFill/>
          <a:ln/>
        </p:spPr>
        <p:txBody>
          <a:bodyPr wrap="square" lIns="0" tIns="0" rIns="0" bIns="0" rtlCol="0" anchor="t"/>
          <a:lstStyle/>
          <a:p>
            <a:pPr indent="0" marL="0">
              <a:lnSpc>
                <a:spcPct val="130000"/>
              </a:lnSpc>
              <a:buNone/>
            </a:pPr>
            <a:r>
              <a:rPr lang="en-US" sz="850" dirty="0">
                <a:solidFill>
                  <a:srgbClr val="090D48"/>
                </a:solidFill>
                <a:latin typeface="Inter" pitchFamily="34" charset="0"/>
                <a:ea typeface="Inter" pitchFamily="34" charset="-122"/>
                <a:cs typeface="Inter" pitchFamily="34" charset="-120"/>
              </a:rPr>
              <a:t>Discovery, identity passthrough, agent integration.</a:t>
            </a:r>
            <a:endParaRPr lang="en-US" sz="850" dirty="0"/>
          </a:p>
        </p:txBody>
      </p:sp>
      <p:sp>
        <p:nvSpPr>
          <p:cNvPr id="28" name="Shape 26"/>
          <p:cNvSpPr/>
          <p:nvPr/>
        </p:nvSpPr>
        <p:spPr>
          <a:xfrm>
            <a:off x="4640580" y="2907792"/>
            <a:ext cx="2000250" cy="1691640"/>
          </a:xfrm>
          <a:prstGeom prst="roundRect">
            <a:avLst>
              <a:gd name="adj" fmla="val 5405"/>
            </a:avLst>
          </a:prstGeom>
          <a:solidFill>
            <a:srgbClr val="FFF5E8"/>
          </a:solidFill>
          <a:ln w="12700">
            <a:solidFill>
              <a:srgbClr val="FF9600"/>
            </a:solidFill>
            <a:prstDash val="solid"/>
          </a:ln>
          <a:effectLst>
            <a:outerShdw sx="100000" sy="100000" kx="0" ky="0" algn="bl" rotWithShape="0" blurRad="38100" dist="25400" dir="8100000">
              <a:srgbClr val="000000">
                <a:alpha val="7000"/>
              </a:srgbClr>
            </a:outerShdw>
          </a:effectLst>
        </p:spPr>
      </p:sp>
      <p:sp>
        <p:nvSpPr>
          <p:cNvPr id="29" name="Shape 27"/>
          <p:cNvSpPr/>
          <p:nvPr/>
        </p:nvSpPr>
        <p:spPr>
          <a:xfrm>
            <a:off x="6073902" y="3017520"/>
            <a:ext cx="457200" cy="201168"/>
          </a:xfrm>
          <a:prstGeom prst="roundRect">
            <a:avLst>
              <a:gd name="adj" fmla="val 22727"/>
            </a:avLst>
          </a:prstGeom>
          <a:solidFill>
            <a:srgbClr val="FF9600"/>
          </a:solidFill>
          <a:ln w="12700">
            <a:solidFill>
              <a:srgbClr val="FF9600"/>
            </a:solidFill>
            <a:prstDash val="solid"/>
          </a:ln>
        </p:spPr>
      </p:sp>
      <p:sp>
        <p:nvSpPr>
          <p:cNvPr id="30" name="Text 28"/>
          <p:cNvSpPr/>
          <p:nvPr/>
        </p:nvSpPr>
        <p:spPr>
          <a:xfrm>
            <a:off x="6073902" y="3017520"/>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Inter" pitchFamily="34" charset="0"/>
                <a:ea typeface="Inter" pitchFamily="34" charset="-122"/>
                <a:cs typeface="Inter" pitchFamily="34" charset="-120"/>
              </a:rPr>
              <a:t>NEW</a:t>
            </a:r>
            <a:endParaRPr lang="en-US" sz="800" dirty="0"/>
          </a:p>
        </p:txBody>
      </p:sp>
      <p:sp>
        <p:nvSpPr>
          <p:cNvPr id="31" name="Text 29"/>
          <p:cNvSpPr/>
          <p:nvPr/>
        </p:nvSpPr>
        <p:spPr>
          <a:xfrm>
            <a:off x="4777740" y="3017520"/>
            <a:ext cx="731520" cy="365760"/>
          </a:xfrm>
          <a:prstGeom prst="rect">
            <a:avLst/>
          </a:prstGeom>
          <a:noFill/>
          <a:ln/>
        </p:spPr>
        <p:txBody>
          <a:bodyPr wrap="square" lIns="0" tIns="0" rIns="0" bIns="0" rtlCol="0" anchor="ctr"/>
          <a:lstStyle/>
          <a:p>
            <a:pPr indent="0" marL="0">
              <a:buNone/>
            </a:pPr>
            <a:r>
              <a:rPr lang="en-US" sz="1800" dirty="0">
                <a:solidFill>
                  <a:srgbClr val="FF9600"/>
                </a:solidFill>
                <a:latin typeface="Epilogue ExtraBold" pitchFamily="34" charset="0"/>
                <a:ea typeface="Epilogue ExtraBold" pitchFamily="34" charset="-122"/>
                <a:cs typeface="Epilogue ExtraBold" pitchFamily="34" charset="-120"/>
              </a:rPr>
              <a:t>06</a:t>
            </a:r>
            <a:endParaRPr lang="en-US" sz="1800" dirty="0"/>
          </a:p>
        </p:txBody>
      </p:sp>
      <p:sp>
        <p:nvSpPr>
          <p:cNvPr id="32" name="Text 30"/>
          <p:cNvSpPr/>
          <p:nvPr/>
        </p:nvSpPr>
        <p:spPr>
          <a:xfrm>
            <a:off x="4777740" y="3410712"/>
            <a:ext cx="1725930" cy="640080"/>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STAFFBASE MCP</a:t>
            </a:r>
            <a:endParaRPr lang="en-US" sz="1100" dirty="0"/>
          </a:p>
        </p:txBody>
      </p:sp>
      <p:sp>
        <p:nvSpPr>
          <p:cNvPr id="33" name="Text 31"/>
          <p:cNvSpPr/>
          <p:nvPr/>
        </p:nvSpPr>
        <p:spPr>
          <a:xfrm>
            <a:off x="4777740" y="4023360"/>
            <a:ext cx="1725930" cy="502920"/>
          </a:xfrm>
          <a:prstGeom prst="rect">
            <a:avLst/>
          </a:prstGeom>
          <a:noFill/>
          <a:ln/>
        </p:spPr>
        <p:txBody>
          <a:bodyPr wrap="square" lIns="0" tIns="0" rIns="0" bIns="0" rtlCol="0" anchor="t"/>
          <a:lstStyle/>
          <a:p>
            <a:pPr indent="0" marL="0">
              <a:lnSpc>
                <a:spcPct val="130000"/>
              </a:lnSpc>
              <a:buNone/>
            </a:pPr>
            <a:r>
              <a:rPr lang="en-US" sz="850" dirty="0">
                <a:solidFill>
                  <a:srgbClr val="090D48"/>
                </a:solidFill>
                <a:latin typeface="Inter" pitchFamily="34" charset="0"/>
                <a:ea typeface="Inter" pitchFamily="34" charset="-122"/>
                <a:cs typeface="Inter" pitchFamily="34" charset="-120"/>
              </a:rPr>
              <a:t>Every Staffbase feature inherits the Navigator surface.</a:t>
            </a:r>
            <a:endParaRPr lang="en-US" sz="850" dirty="0"/>
          </a:p>
        </p:txBody>
      </p:sp>
      <p:sp>
        <p:nvSpPr>
          <p:cNvPr id="34" name="Shape 32"/>
          <p:cNvSpPr/>
          <p:nvPr/>
        </p:nvSpPr>
        <p:spPr>
          <a:xfrm>
            <a:off x="6777990" y="2907792"/>
            <a:ext cx="2000250" cy="1691640"/>
          </a:xfrm>
          <a:prstGeom prst="roundRect">
            <a:avLst>
              <a:gd name="adj" fmla="val 5405"/>
            </a:avLst>
          </a:prstGeom>
          <a:solidFill>
            <a:srgbClr val="FFF5E8"/>
          </a:solidFill>
          <a:ln w="12700">
            <a:solidFill>
              <a:srgbClr val="FF9600"/>
            </a:solidFill>
            <a:prstDash val="solid"/>
          </a:ln>
          <a:effectLst>
            <a:outerShdw sx="100000" sy="100000" kx="0" ky="0" algn="bl" rotWithShape="0" blurRad="38100" dist="25400" dir="8100000">
              <a:srgbClr val="000000">
                <a:alpha val="7000"/>
              </a:srgbClr>
            </a:outerShdw>
          </a:effectLst>
        </p:spPr>
      </p:sp>
      <p:sp>
        <p:nvSpPr>
          <p:cNvPr id="35" name="Shape 33"/>
          <p:cNvSpPr/>
          <p:nvPr/>
        </p:nvSpPr>
        <p:spPr>
          <a:xfrm>
            <a:off x="8211312" y="3017520"/>
            <a:ext cx="457200" cy="201168"/>
          </a:xfrm>
          <a:prstGeom prst="roundRect">
            <a:avLst>
              <a:gd name="adj" fmla="val 22727"/>
            </a:avLst>
          </a:prstGeom>
          <a:solidFill>
            <a:srgbClr val="FF9600"/>
          </a:solidFill>
          <a:ln w="12700">
            <a:solidFill>
              <a:srgbClr val="FF9600"/>
            </a:solidFill>
            <a:prstDash val="solid"/>
          </a:ln>
        </p:spPr>
      </p:sp>
      <p:sp>
        <p:nvSpPr>
          <p:cNvPr id="36" name="Text 34"/>
          <p:cNvSpPr/>
          <p:nvPr/>
        </p:nvSpPr>
        <p:spPr>
          <a:xfrm>
            <a:off x="8211312" y="3017520"/>
            <a:ext cx="45720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Inter" pitchFamily="34" charset="0"/>
                <a:ea typeface="Inter" pitchFamily="34" charset="-122"/>
                <a:cs typeface="Inter" pitchFamily="34" charset="-120"/>
              </a:rPr>
              <a:t>NEW</a:t>
            </a:r>
            <a:endParaRPr lang="en-US" sz="800" dirty="0"/>
          </a:p>
        </p:txBody>
      </p:sp>
      <p:sp>
        <p:nvSpPr>
          <p:cNvPr id="37" name="Text 35"/>
          <p:cNvSpPr/>
          <p:nvPr/>
        </p:nvSpPr>
        <p:spPr>
          <a:xfrm>
            <a:off x="6915150" y="3017520"/>
            <a:ext cx="731520" cy="365760"/>
          </a:xfrm>
          <a:prstGeom prst="rect">
            <a:avLst/>
          </a:prstGeom>
          <a:noFill/>
          <a:ln/>
        </p:spPr>
        <p:txBody>
          <a:bodyPr wrap="square" lIns="0" tIns="0" rIns="0" bIns="0" rtlCol="0" anchor="ctr"/>
          <a:lstStyle/>
          <a:p>
            <a:pPr indent="0" marL="0">
              <a:buNone/>
            </a:pPr>
            <a:r>
              <a:rPr lang="en-US" sz="1800" dirty="0">
                <a:solidFill>
                  <a:srgbClr val="FF9600"/>
                </a:solidFill>
                <a:latin typeface="Epilogue ExtraBold" pitchFamily="34" charset="0"/>
                <a:ea typeface="Epilogue ExtraBold" pitchFamily="34" charset="-122"/>
                <a:cs typeface="Epilogue ExtraBold" pitchFamily="34" charset="-120"/>
              </a:rPr>
              <a:t>07</a:t>
            </a:r>
            <a:endParaRPr lang="en-US" sz="1800" dirty="0"/>
          </a:p>
        </p:txBody>
      </p:sp>
      <p:sp>
        <p:nvSpPr>
          <p:cNvPr id="38" name="Text 36"/>
          <p:cNvSpPr/>
          <p:nvPr/>
        </p:nvSpPr>
        <p:spPr>
          <a:xfrm>
            <a:off x="6915150" y="3410712"/>
            <a:ext cx="1725930" cy="640080"/>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SEARCH ⇄ NAVIGATOR</a:t>
            </a:r>
            <a:endParaRPr lang="en-US" sz="1100" dirty="0"/>
          </a:p>
        </p:txBody>
      </p:sp>
      <p:sp>
        <p:nvSpPr>
          <p:cNvPr id="39" name="Text 37"/>
          <p:cNvSpPr/>
          <p:nvPr/>
        </p:nvSpPr>
        <p:spPr>
          <a:xfrm>
            <a:off x="6915150" y="4023360"/>
            <a:ext cx="1725930" cy="502920"/>
          </a:xfrm>
          <a:prstGeom prst="rect">
            <a:avLst/>
          </a:prstGeom>
          <a:noFill/>
          <a:ln/>
        </p:spPr>
        <p:txBody>
          <a:bodyPr wrap="square" lIns="0" tIns="0" rIns="0" bIns="0" rtlCol="0" anchor="t"/>
          <a:lstStyle/>
          <a:p>
            <a:pPr indent="0" marL="0">
              <a:lnSpc>
                <a:spcPct val="130000"/>
              </a:lnSpc>
              <a:buNone/>
            </a:pPr>
            <a:r>
              <a:rPr lang="en-US" sz="850" dirty="0">
                <a:solidFill>
                  <a:srgbClr val="090D48"/>
                </a:solidFill>
                <a:latin typeface="Inter" pitchFamily="34" charset="0"/>
                <a:ea typeface="Inter" pitchFamily="34" charset="-122"/>
                <a:cs typeface="Inter" pitchFamily="34" charset="-120"/>
              </a:rPr>
              <a:t>Unified models, sources, summaries. Search becomes conversation.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1097280"/>
            <a:ext cx="8412480" cy="1371600"/>
          </a:xfrm>
          <a:prstGeom prst="rect">
            <a:avLst/>
          </a:prstGeom>
          <a:noFill/>
          <a:ln/>
        </p:spPr>
        <p:txBody>
          <a:bodyPr wrap="square" lIns="0" tIns="0" rIns="0" bIns="0" rtlCol="0" anchor="ctr"/>
          <a:lstStyle/>
          <a:p>
            <a:pPr algn="l" indent="0" marL="0">
              <a:buNone/>
            </a:pPr>
            <a:r>
              <a:rPr lang="en-US" sz="8000" dirty="0">
                <a:solidFill>
                  <a:srgbClr val="23B4FF"/>
                </a:solidFill>
                <a:latin typeface="Epilogue ExtraBold" pitchFamily="34" charset="0"/>
                <a:ea typeface="Epilogue ExtraBold" pitchFamily="34" charset="-122"/>
                <a:cs typeface="Epilogue ExtraBold" pitchFamily="34" charset="-120"/>
              </a:rPr>
              <a:t>02</a:t>
            </a:r>
            <a:endParaRPr lang="en-US" sz="8000" dirty="0"/>
          </a:p>
        </p:txBody>
      </p:sp>
      <p:sp>
        <p:nvSpPr>
          <p:cNvPr id="3" name="Text 1"/>
          <p:cNvSpPr/>
          <p:nvPr/>
        </p:nvSpPr>
        <p:spPr>
          <a:xfrm>
            <a:off x="365760" y="2651760"/>
            <a:ext cx="8412480" cy="731520"/>
          </a:xfrm>
          <a:prstGeom prst="rect">
            <a:avLst/>
          </a:prstGeom>
          <a:noFill/>
          <a:ln/>
        </p:spPr>
        <p:txBody>
          <a:bodyPr wrap="square" lIns="0" tIns="0" rIns="0" bIns="0" rtlCol="0" anchor="ctr"/>
          <a:lstStyle/>
          <a:p>
            <a:pPr algn="l" indent="0" marL="0">
              <a:buNone/>
            </a:pPr>
            <a:r>
              <a:rPr lang="en-US" sz="4400" dirty="0">
                <a:solidFill>
                  <a:srgbClr val="090D48"/>
                </a:solidFill>
                <a:latin typeface="Epilogue ExtraBold" pitchFamily="34" charset="0"/>
                <a:ea typeface="Epilogue ExtraBold" pitchFamily="34" charset="-122"/>
                <a:cs typeface="Epilogue ExtraBold" pitchFamily="34" charset="-120"/>
              </a:rPr>
              <a:t>THE 6M TO 1M PATH</a:t>
            </a:r>
            <a:endParaRPr lang="en-US" sz="4400" dirty="0"/>
          </a:p>
        </p:txBody>
      </p:sp>
      <p:sp>
        <p:nvSpPr>
          <p:cNvPr id="4" name="Text 2"/>
          <p:cNvSpPr/>
          <p:nvPr/>
        </p:nvSpPr>
        <p:spPr>
          <a:xfrm>
            <a:off x="365760" y="3520440"/>
            <a:ext cx="8412480" cy="365760"/>
          </a:xfrm>
          <a:prstGeom prst="rect">
            <a:avLst/>
          </a:prstGeom>
          <a:noFill/>
          <a:ln/>
        </p:spPr>
        <p:txBody>
          <a:bodyPr wrap="square" lIns="0" tIns="0" rIns="0" bIns="0" rtlCol="0" anchor="ctr"/>
          <a:lstStyle/>
          <a:p>
            <a:pPr indent="0" marL="0">
              <a:buNone/>
            </a:pPr>
            <a:r>
              <a:rPr lang="en-US" sz="1400" dirty="0">
                <a:solidFill>
                  <a:srgbClr val="9B9B9B"/>
                </a:solidFill>
                <a:latin typeface="Inter" pitchFamily="34" charset="0"/>
                <a:ea typeface="Inter" pitchFamily="34" charset="-122"/>
                <a:cs typeface="Inter" pitchFamily="34" charset="-120"/>
              </a:rPr>
              <a:t>Every bet judged against AI MAU growth, against a 6M intranet TAM and a 1M EOY target.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2800" dirty="0">
                <a:solidFill>
                  <a:srgbClr val="090D48"/>
                </a:solidFill>
                <a:latin typeface="Epilogue ExtraBold" pitchFamily="34" charset="0"/>
                <a:ea typeface="Epilogue ExtraBold" pitchFamily="34" charset="-122"/>
                <a:cs typeface="Epilogue ExtraBold" pitchFamily="34" charset="-120"/>
              </a:rPr>
              <a:t>THE MATH WE ARE PLAYING</a:t>
            </a:r>
            <a:endParaRPr lang="en-US" sz="28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000" b="1" dirty="0">
                <a:solidFill>
                  <a:srgbClr val="FF9600"/>
                </a:solidFill>
                <a:latin typeface="Inter" pitchFamily="34" charset="0"/>
                <a:ea typeface="Inter" pitchFamily="34" charset="-122"/>
                <a:cs typeface="Inter" pitchFamily="34" charset="-120"/>
              </a:rPr>
              <a:t>6M IS THE TAM. 1M BY YEAR END IS THE PROMISE. 50× IS THE GAP.</a:t>
            </a:r>
            <a:endParaRPr lang="en-US" sz="1000" dirty="0"/>
          </a:p>
        </p:txBody>
      </p:sp>
      <p:sp>
        <p:nvSpPr>
          <p:cNvPr id="4" name="Shape 2"/>
          <p:cNvSpPr/>
          <p:nvPr/>
        </p:nvSpPr>
        <p:spPr>
          <a:xfrm>
            <a:off x="365760" y="1325880"/>
            <a:ext cx="1931670" cy="3337560"/>
          </a:xfrm>
          <a:prstGeom prst="roundRect">
            <a:avLst>
              <a:gd name="adj" fmla="val 4734"/>
            </a:avLst>
          </a:prstGeom>
          <a:solidFill>
            <a:srgbClr val="E8F0FF"/>
          </a:solidFill>
          <a:ln/>
          <a:effectLst>
            <a:outerShdw sx="100000" sy="100000" kx="0" ky="0" algn="bl" rotWithShape="0" blurRad="38100" dist="25400" dir="8100000">
              <a:srgbClr val="000000">
                <a:alpha val="7000"/>
              </a:srgbClr>
            </a:outerShdw>
          </a:effectLst>
        </p:spPr>
      </p:sp>
      <p:sp>
        <p:nvSpPr>
          <p:cNvPr id="5" name="Text 3"/>
          <p:cNvSpPr/>
          <p:nvPr/>
        </p:nvSpPr>
        <p:spPr>
          <a:xfrm>
            <a:off x="365760" y="1737360"/>
            <a:ext cx="1931670" cy="1005840"/>
          </a:xfrm>
          <a:prstGeom prst="rect">
            <a:avLst/>
          </a:prstGeom>
          <a:noFill/>
          <a:ln/>
        </p:spPr>
        <p:txBody>
          <a:bodyPr wrap="square" lIns="0" tIns="0" rIns="0" bIns="0" rtlCol="0" anchor="ctr"/>
          <a:lstStyle/>
          <a:p>
            <a:pPr algn="ctr" indent="0" marL="0">
              <a:buNone/>
            </a:pPr>
            <a:r>
              <a:rPr lang="en-US" sz="5600" dirty="0">
                <a:solidFill>
                  <a:srgbClr val="006CFF"/>
                </a:solidFill>
                <a:latin typeface="Epilogue ExtraBold" pitchFamily="34" charset="0"/>
                <a:ea typeface="Epilogue ExtraBold" pitchFamily="34" charset="-122"/>
                <a:cs typeface="Epilogue ExtraBold" pitchFamily="34" charset="-120"/>
              </a:rPr>
              <a:t>6M</a:t>
            </a:r>
            <a:endParaRPr lang="en-US" sz="5600" dirty="0"/>
          </a:p>
        </p:txBody>
      </p:sp>
      <p:sp>
        <p:nvSpPr>
          <p:cNvPr id="6" name="Text 4"/>
          <p:cNvSpPr/>
          <p:nvPr/>
        </p:nvSpPr>
        <p:spPr>
          <a:xfrm>
            <a:off x="502920" y="2880360"/>
            <a:ext cx="1657350" cy="548640"/>
          </a:xfrm>
          <a:prstGeom prst="rect">
            <a:avLst/>
          </a:prstGeom>
          <a:noFill/>
          <a:ln/>
        </p:spPr>
        <p:txBody>
          <a:bodyPr wrap="square" lIns="0" tIns="0" rIns="0" bIns="0" rtlCol="0" anchor="ctr"/>
          <a:lstStyle/>
          <a:p>
            <a:pPr algn="ctr" indent="0" marL="0">
              <a:buNone/>
            </a:pPr>
            <a:r>
              <a:rPr lang="en-US" sz="1100" b="1" dirty="0">
                <a:solidFill>
                  <a:srgbClr val="090D48"/>
                </a:solidFill>
                <a:latin typeface="Inter" pitchFamily="34" charset="0"/>
                <a:ea typeface="Inter" pitchFamily="34" charset="-122"/>
                <a:cs typeface="Inter" pitchFamily="34" charset="-120"/>
              </a:rPr>
              <a:t>INTRANET MAU TAM</a:t>
            </a:r>
            <a:endParaRPr lang="en-US" sz="1100" dirty="0"/>
          </a:p>
        </p:txBody>
      </p:sp>
      <p:sp>
        <p:nvSpPr>
          <p:cNvPr id="7" name="Text 5"/>
          <p:cNvSpPr/>
          <p:nvPr/>
        </p:nvSpPr>
        <p:spPr>
          <a:xfrm>
            <a:off x="502920" y="3520440"/>
            <a:ext cx="1657350" cy="914400"/>
          </a:xfrm>
          <a:prstGeom prst="rect">
            <a:avLst/>
          </a:prstGeom>
          <a:noFill/>
          <a:ln/>
        </p:spPr>
        <p:txBody>
          <a:bodyPr wrap="square" lIns="0" tIns="0" rIns="0" bIns="0" rtlCol="0" anchor="t"/>
          <a:lstStyle/>
          <a:p>
            <a:pPr algn="ctr" indent="0" marL="0">
              <a:lnSpc>
                <a:spcPct val="140000"/>
              </a:lnSpc>
              <a:buNone/>
            </a:pPr>
            <a:r>
              <a:rPr lang="en-US" sz="950" dirty="0">
                <a:solidFill>
                  <a:srgbClr val="9B9B9B"/>
                </a:solidFill>
                <a:latin typeface="Inter" pitchFamily="34" charset="0"/>
                <a:ea typeface="Inter" pitchFamily="34" charset="-122"/>
                <a:cs typeface="Inter" pitchFamily="34" charset="-120"/>
              </a:rPr>
              <a:t>Total addressable across all Staffbase customers</a:t>
            </a:r>
            <a:endParaRPr lang="en-US" sz="950" dirty="0"/>
          </a:p>
        </p:txBody>
      </p:sp>
      <p:sp>
        <p:nvSpPr>
          <p:cNvPr id="8" name="Shape 6"/>
          <p:cNvSpPr/>
          <p:nvPr/>
        </p:nvSpPr>
        <p:spPr>
          <a:xfrm>
            <a:off x="2526030" y="1325880"/>
            <a:ext cx="1931670" cy="3337560"/>
          </a:xfrm>
          <a:prstGeom prst="roundRect">
            <a:avLst>
              <a:gd name="adj" fmla="val 4734"/>
            </a:avLst>
          </a:prstGeom>
          <a:solidFill>
            <a:srgbClr val="E8F8FF"/>
          </a:solidFill>
          <a:ln/>
          <a:effectLst>
            <a:outerShdw sx="100000" sy="100000" kx="0" ky="0" algn="bl" rotWithShape="0" blurRad="38100" dist="25400" dir="8100000">
              <a:srgbClr val="000000">
                <a:alpha val="7000"/>
              </a:srgbClr>
            </a:outerShdw>
          </a:effectLst>
        </p:spPr>
      </p:sp>
      <p:sp>
        <p:nvSpPr>
          <p:cNvPr id="9" name="Text 7"/>
          <p:cNvSpPr/>
          <p:nvPr/>
        </p:nvSpPr>
        <p:spPr>
          <a:xfrm>
            <a:off x="2526030" y="1737360"/>
            <a:ext cx="1931670" cy="1005840"/>
          </a:xfrm>
          <a:prstGeom prst="rect">
            <a:avLst/>
          </a:prstGeom>
          <a:noFill/>
          <a:ln/>
        </p:spPr>
        <p:txBody>
          <a:bodyPr wrap="square" lIns="0" tIns="0" rIns="0" bIns="0" rtlCol="0" anchor="ctr"/>
          <a:lstStyle/>
          <a:p>
            <a:pPr algn="ctr" indent="0" marL="0">
              <a:buNone/>
            </a:pPr>
            <a:r>
              <a:rPr lang="en-US" sz="5600" dirty="0">
                <a:solidFill>
                  <a:srgbClr val="23B4FF"/>
                </a:solidFill>
                <a:latin typeface="Epilogue ExtraBold" pitchFamily="34" charset="0"/>
                <a:ea typeface="Epilogue ExtraBold" pitchFamily="34" charset="-122"/>
                <a:cs typeface="Epilogue ExtraBold" pitchFamily="34" charset="-120"/>
              </a:rPr>
              <a:t>20K</a:t>
            </a:r>
            <a:endParaRPr lang="en-US" sz="5600" dirty="0"/>
          </a:p>
        </p:txBody>
      </p:sp>
      <p:sp>
        <p:nvSpPr>
          <p:cNvPr id="10" name="Text 8"/>
          <p:cNvSpPr/>
          <p:nvPr/>
        </p:nvSpPr>
        <p:spPr>
          <a:xfrm>
            <a:off x="2663190" y="2880360"/>
            <a:ext cx="1657350" cy="548640"/>
          </a:xfrm>
          <a:prstGeom prst="rect">
            <a:avLst/>
          </a:prstGeom>
          <a:noFill/>
          <a:ln/>
        </p:spPr>
        <p:txBody>
          <a:bodyPr wrap="square" lIns="0" tIns="0" rIns="0" bIns="0" rtlCol="0" anchor="ctr"/>
          <a:lstStyle/>
          <a:p>
            <a:pPr algn="ctr" indent="0" marL="0">
              <a:buNone/>
            </a:pPr>
            <a:r>
              <a:rPr lang="en-US" sz="1100" b="1" dirty="0">
                <a:solidFill>
                  <a:srgbClr val="090D48"/>
                </a:solidFill>
                <a:latin typeface="Inter" pitchFamily="34" charset="0"/>
                <a:ea typeface="Inter" pitchFamily="34" charset="-122"/>
                <a:cs typeface="Inter" pitchFamily="34" charset="-120"/>
              </a:rPr>
              <a:t>AI MAU TODAY</a:t>
            </a:r>
            <a:endParaRPr lang="en-US" sz="1100" dirty="0"/>
          </a:p>
        </p:txBody>
      </p:sp>
      <p:sp>
        <p:nvSpPr>
          <p:cNvPr id="11" name="Text 9"/>
          <p:cNvSpPr/>
          <p:nvPr/>
        </p:nvSpPr>
        <p:spPr>
          <a:xfrm>
            <a:off x="2663190" y="3520440"/>
            <a:ext cx="1657350" cy="914400"/>
          </a:xfrm>
          <a:prstGeom prst="rect">
            <a:avLst/>
          </a:prstGeom>
          <a:noFill/>
          <a:ln/>
        </p:spPr>
        <p:txBody>
          <a:bodyPr wrap="square" lIns="0" tIns="0" rIns="0" bIns="0" rtlCol="0" anchor="t"/>
          <a:lstStyle/>
          <a:p>
            <a:pPr algn="ctr" indent="0" marL="0">
              <a:lnSpc>
                <a:spcPct val="140000"/>
              </a:lnSpc>
              <a:buNone/>
            </a:pPr>
            <a:r>
              <a:rPr lang="en-US" sz="950" dirty="0">
                <a:solidFill>
                  <a:srgbClr val="9B9B9B"/>
                </a:solidFill>
                <a:latin typeface="Inter" pitchFamily="34" charset="0"/>
                <a:ea typeface="Inter" pitchFamily="34" charset="-122"/>
                <a:cs typeface="Inter" pitchFamily="34" charset="-120"/>
              </a:rPr>
              <a:t>Where the floor sits right now</a:t>
            </a:r>
            <a:endParaRPr lang="en-US" sz="950" dirty="0"/>
          </a:p>
        </p:txBody>
      </p:sp>
      <p:sp>
        <p:nvSpPr>
          <p:cNvPr id="12" name="Shape 10"/>
          <p:cNvSpPr/>
          <p:nvPr/>
        </p:nvSpPr>
        <p:spPr>
          <a:xfrm>
            <a:off x="4686300" y="1325880"/>
            <a:ext cx="1931670" cy="3337560"/>
          </a:xfrm>
          <a:prstGeom prst="roundRect">
            <a:avLst>
              <a:gd name="adj" fmla="val 4734"/>
            </a:avLst>
          </a:prstGeom>
          <a:solidFill>
            <a:srgbClr val="FFF5E8"/>
          </a:solidFill>
          <a:ln/>
          <a:effectLst>
            <a:outerShdw sx="100000" sy="100000" kx="0" ky="0" algn="bl" rotWithShape="0" blurRad="38100" dist="25400" dir="8100000">
              <a:srgbClr val="000000">
                <a:alpha val="7000"/>
              </a:srgbClr>
            </a:outerShdw>
          </a:effectLst>
        </p:spPr>
      </p:sp>
      <p:sp>
        <p:nvSpPr>
          <p:cNvPr id="13" name="Text 11"/>
          <p:cNvSpPr/>
          <p:nvPr/>
        </p:nvSpPr>
        <p:spPr>
          <a:xfrm>
            <a:off x="4686300" y="1737360"/>
            <a:ext cx="1931670" cy="1005840"/>
          </a:xfrm>
          <a:prstGeom prst="rect">
            <a:avLst/>
          </a:prstGeom>
          <a:noFill/>
          <a:ln/>
        </p:spPr>
        <p:txBody>
          <a:bodyPr wrap="square" lIns="0" tIns="0" rIns="0" bIns="0" rtlCol="0" anchor="ctr"/>
          <a:lstStyle/>
          <a:p>
            <a:pPr algn="ctr" indent="0" marL="0">
              <a:buNone/>
            </a:pPr>
            <a:r>
              <a:rPr lang="en-US" sz="5600" dirty="0">
                <a:solidFill>
                  <a:srgbClr val="FF9600"/>
                </a:solidFill>
                <a:latin typeface="Epilogue ExtraBold" pitchFamily="34" charset="0"/>
                <a:ea typeface="Epilogue ExtraBold" pitchFamily="34" charset="-122"/>
                <a:cs typeface="Epilogue ExtraBold" pitchFamily="34" charset="-120"/>
              </a:rPr>
              <a:t>1M</a:t>
            </a:r>
            <a:endParaRPr lang="en-US" sz="5600" dirty="0"/>
          </a:p>
        </p:txBody>
      </p:sp>
      <p:sp>
        <p:nvSpPr>
          <p:cNvPr id="14" name="Text 12"/>
          <p:cNvSpPr/>
          <p:nvPr/>
        </p:nvSpPr>
        <p:spPr>
          <a:xfrm>
            <a:off x="4823460" y="2880360"/>
            <a:ext cx="1657350" cy="548640"/>
          </a:xfrm>
          <a:prstGeom prst="rect">
            <a:avLst/>
          </a:prstGeom>
          <a:noFill/>
          <a:ln/>
        </p:spPr>
        <p:txBody>
          <a:bodyPr wrap="square" lIns="0" tIns="0" rIns="0" bIns="0" rtlCol="0" anchor="ctr"/>
          <a:lstStyle/>
          <a:p>
            <a:pPr algn="ctr" indent="0" marL="0">
              <a:buNone/>
            </a:pPr>
            <a:r>
              <a:rPr lang="en-US" sz="1100" b="1" dirty="0">
                <a:solidFill>
                  <a:srgbClr val="090D48"/>
                </a:solidFill>
                <a:latin typeface="Inter" pitchFamily="34" charset="0"/>
                <a:ea typeface="Inter" pitchFamily="34" charset="-122"/>
                <a:cs typeface="Inter" pitchFamily="34" charset="-120"/>
              </a:rPr>
              <a:t>EOY 2026 GOAL</a:t>
            </a:r>
            <a:endParaRPr lang="en-US" sz="1100" dirty="0"/>
          </a:p>
        </p:txBody>
      </p:sp>
      <p:sp>
        <p:nvSpPr>
          <p:cNvPr id="15" name="Text 13"/>
          <p:cNvSpPr/>
          <p:nvPr/>
        </p:nvSpPr>
        <p:spPr>
          <a:xfrm>
            <a:off x="4823460" y="3520440"/>
            <a:ext cx="1657350" cy="914400"/>
          </a:xfrm>
          <a:prstGeom prst="rect">
            <a:avLst/>
          </a:prstGeom>
          <a:noFill/>
          <a:ln/>
        </p:spPr>
        <p:txBody>
          <a:bodyPr wrap="square" lIns="0" tIns="0" rIns="0" bIns="0" rtlCol="0" anchor="t"/>
          <a:lstStyle/>
          <a:p>
            <a:pPr algn="ctr" indent="0" marL="0">
              <a:lnSpc>
                <a:spcPct val="140000"/>
              </a:lnSpc>
              <a:buNone/>
            </a:pPr>
            <a:r>
              <a:rPr lang="en-US" sz="950" dirty="0">
                <a:solidFill>
                  <a:srgbClr val="9B9B9B"/>
                </a:solidFill>
                <a:latin typeface="Inter" pitchFamily="34" charset="0"/>
                <a:ea typeface="Inter" pitchFamily="34" charset="-122"/>
                <a:cs typeface="Inter" pitchFamily="34" charset="-120"/>
              </a:rPr>
              <a:t>The year-end commitment we are working to</a:t>
            </a:r>
            <a:endParaRPr lang="en-US" sz="950" dirty="0"/>
          </a:p>
        </p:txBody>
      </p:sp>
      <p:sp>
        <p:nvSpPr>
          <p:cNvPr id="16" name="Shape 14"/>
          <p:cNvSpPr/>
          <p:nvPr/>
        </p:nvSpPr>
        <p:spPr>
          <a:xfrm>
            <a:off x="6846570" y="1325880"/>
            <a:ext cx="1931670" cy="3337560"/>
          </a:xfrm>
          <a:prstGeom prst="roundRect">
            <a:avLst>
              <a:gd name="adj" fmla="val 4734"/>
            </a:avLst>
          </a:prstGeom>
          <a:solidFill>
            <a:srgbClr val="F0E8FF"/>
          </a:solidFill>
          <a:ln/>
          <a:effectLst>
            <a:outerShdw sx="100000" sy="100000" kx="0" ky="0" algn="bl" rotWithShape="0" blurRad="38100" dist="25400" dir="8100000">
              <a:srgbClr val="000000">
                <a:alpha val="7000"/>
              </a:srgbClr>
            </a:outerShdw>
          </a:effectLst>
        </p:spPr>
      </p:sp>
      <p:sp>
        <p:nvSpPr>
          <p:cNvPr id="17" name="Text 15"/>
          <p:cNvSpPr/>
          <p:nvPr/>
        </p:nvSpPr>
        <p:spPr>
          <a:xfrm>
            <a:off x="6846570" y="1737360"/>
            <a:ext cx="1931670" cy="1005840"/>
          </a:xfrm>
          <a:prstGeom prst="rect">
            <a:avLst/>
          </a:prstGeom>
          <a:noFill/>
          <a:ln/>
        </p:spPr>
        <p:txBody>
          <a:bodyPr wrap="square" lIns="0" tIns="0" rIns="0" bIns="0" rtlCol="0" anchor="ctr"/>
          <a:lstStyle/>
          <a:p>
            <a:pPr algn="ctr" indent="0" marL="0">
              <a:buNone/>
            </a:pPr>
            <a:r>
              <a:rPr lang="en-US" sz="5600" dirty="0">
                <a:solidFill>
                  <a:srgbClr val="7A47D1"/>
                </a:solidFill>
                <a:latin typeface="Epilogue ExtraBold" pitchFamily="34" charset="0"/>
                <a:ea typeface="Epilogue ExtraBold" pitchFamily="34" charset="-122"/>
                <a:cs typeface="Epilogue ExtraBold" pitchFamily="34" charset="-120"/>
              </a:rPr>
              <a:t>50×</a:t>
            </a:r>
            <a:endParaRPr lang="en-US" sz="5600" dirty="0"/>
          </a:p>
        </p:txBody>
      </p:sp>
      <p:sp>
        <p:nvSpPr>
          <p:cNvPr id="18" name="Text 16"/>
          <p:cNvSpPr/>
          <p:nvPr/>
        </p:nvSpPr>
        <p:spPr>
          <a:xfrm>
            <a:off x="6983730" y="2880360"/>
            <a:ext cx="1657350" cy="548640"/>
          </a:xfrm>
          <a:prstGeom prst="rect">
            <a:avLst/>
          </a:prstGeom>
          <a:noFill/>
          <a:ln/>
        </p:spPr>
        <p:txBody>
          <a:bodyPr wrap="square" lIns="0" tIns="0" rIns="0" bIns="0" rtlCol="0" anchor="ctr"/>
          <a:lstStyle/>
          <a:p>
            <a:pPr algn="ctr" indent="0" marL="0">
              <a:buNone/>
            </a:pPr>
            <a:r>
              <a:rPr lang="en-US" sz="1100" b="1" dirty="0">
                <a:solidFill>
                  <a:srgbClr val="090D48"/>
                </a:solidFill>
                <a:latin typeface="Inter" pitchFamily="34" charset="0"/>
                <a:ea typeface="Inter" pitchFamily="34" charset="-122"/>
                <a:cs typeface="Inter" pitchFamily="34" charset="-120"/>
              </a:rPr>
              <a:t>THE MULTIPLIER</a:t>
            </a:r>
            <a:endParaRPr lang="en-US" sz="1100" dirty="0"/>
          </a:p>
        </p:txBody>
      </p:sp>
      <p:sp>
        <p:nvSpPr>
          <p:cNvPr id="19" name="Text 17"/>
          <p:cNvSpPr/>
          <p:nvPr/>
        </p:nvSpPr>
        <p:spPr>
          <a:xfrm>
            <a:off x="6983730" y="3520440"/>
            <a:ext cx="1657350" cy="914400"/>
          </a:xfrm>
          <a:prstGeom prst="rect">
            <a:avLst/>
          </a:prstGeom>
          <a:noFill/>
          <a:ln/>
        </p:spPr>
        <p:txBody>
          <a:bodyPr wrap="square" lIns="0" tIns="0" rIns="0" bIns="0" rtlCol="0" anchor="t"/>
          <a:lstStyle/>
          <a:p>
            <a:pPr algn="ctr" indent="0" marL="0">
              <a:lnSpc>
                <a:spcPct val="140000"/>
              </a:lnSpc>
              <a:buNone/>
            </a:pPr>
            <a:r>
              <a:rPr lang="en-US" sz="950" dirty="0">
                <a:solidFill>
                  <a:srgbClr val="9B9B9B"/>
                </a:solidFill>
                <a:latin typeface="Inter" pitchFamily="34" charset="0"/>
                <a:ea typeface="Inter" pitchFamily="34" charset="-122"/>
                <a:cs typeface="Inter" pitchFamily="34" charset="-120"/>
              </a:rPr>
              <a:t>What the 7 bets must close in 7 months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2800" dirty="0">
                <a:solidFill>
                  <a:srgbClr val="090D48"/>
                </a:solidFill>
                <a:latin typeface="Epilogue ExtraBold" pitchFamily="34" charset="0"/>
                <a:ea typeface="Epilogue ExtraBold" pitchFamily="34" charset="-122"/>
                <a:cs typeface="Epilogue ExtraBold" pitchFamily="34" charset="-120"/>
              </a:rPr>
              <a:t>BET-BY-BET MAU IMPACT</a:t>
            </a:r>
            <a:endParaRPr lang="en-US" sz="28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000" b="1" dirty="0">
                <a:solidFill>
                  <a:srgbClr val="FF9600"/>
                </a:solidFill>
                <a:latin typeface="Inter" pitchFamily="34" charset="0"/>
                <a:ea typeface="Inter" pitchFamily="34" charset="-122"/>
                <a:cs typeface="Inter" pitchFamily="34" charset="-120"/>
              </a:rPr>
              <a:t>HOW EACH BET MOVES THE SHARE OF 1M INTRANET MAU</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2103120"/>
                <a:gridCol w="3108960"/>
                <a:gridCol w="1554480"/>
                <a:gridCol w="1645920"/>
              </a:tblGrid>
              <a:tr h="0">
                <a:tc>
                  <a:txBody>
                    <a:bodyPr/>
                    <a:lstStyle/>
                    <a:p>
                      <a:pPr algn="l" indent="0" marL="0">
                        <a:buNone/>
                      </a:pPr>
                      <a:r>
                        <a:rPr lang="en-US" sz="950" b="1" dirty="0">
                          <a:solidFill>
                            <a:srgbClr val="FFFFFF"/>
                          </a:solidFill>
                          <a:latin typeface="Inter" pitchFamily="34" charset="0"/>
                          <a:ea typeface="Inter" pitchFamily="34" charset="-122"/>
                          <a:cs typeface="Inter" pitchFamily="34" charset="-120"/>
                        </a:rPr>
                        <a:t>BET</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90D48"/>
                    </a:solidFill>
                  </a:tcPr>
                </a:tc>
                <a:tc>
                  <a:txBody>
                    <a:bodyPr/>
                    <a:lstStyle/>
                    <a:p>
                      <a:pPr algn="l" indent="0" marL="0">
                        <a:buNone/>
                      </a:pPr>
                      <a:r>
                        <a:rPr lang="en-US" sz="950" b="1" dirty="0">
                          <a:solidFill>
                            <a:srgbClr val="FFFFFF"/>
                          </a:solidFill>
                          <a:latin typeface="Inter" pitchFamily="34" charset="0"/>
                          <a:ea typeface="Inter" pitchFamily="34" charset="-122"/>
                          <a:cs typeface="Inter" pitchFamily="34" charset="-120"/>
                        </a:rPr>
                        <a:t>PRIMARY MAU LEVER</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90D48"/>
                    </a:solidFill>
                  </a:tcPr>
                </a:tc>
                <a:tc>
                  <a:txBody>
                    <a:bodyPr/>
                    <a:lstStyle/>
                    <a:p>
                      <a:pPr algn="l" indent="0" marL="0">
                        <a:buNone/>
                      </a:pPr>
                      <a:r>
                        <a:rPr lang="en-US" sz="950" b="1" dirty="0">
                          <a:solidFill>
                            <a:srgbClr val="FFFFFF"/>
                          </a:solidFill>
                          <a:latin typeface="Inter" pitchFamily="34" charset="0"/>
                          <a:ea typeface="Inter" pitchFamily="34" charset="-122"/>
                          <a:cs typeface="Inter" pitchFamily="34" charset="-120"/>
                        </a:rPr>
                        <a:t>MULTIPLIER</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90D48"/>
                    </a:solidFill>
                  </a:tcPr>
                </a:tc>
                <a:tc>
                  <a:txBody>
                    <a:bodyPr/>
                    <a:lstStyle/>
                    <a:p>
                      <a:pPr algn="l" indent="0" marL="0">
                        <a:buNone/>
                      </a:pPr>
                      <a:r>
                        <a:rPr lang="en-US" sz="950" b="1" dirty="0">
                          <a:solidFill>
                            <a:srgbClr val="FFFFFF"/>
                          </a:solidFill>
                          <a:latin typeface="Inter" pitchFamily="34" charset="0"/>
                          <a:ea typeface="Inter" pitchFamily="34" charset="-122"/>
                          <a:cs typeface="Inter" pitchFamily="34" charset="-120"/>
                        </a:rPr>
                        <a:t>WHO BENEFITS</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90D48"/>
                    </a:solidFill>
                  </a:tcPr>
                </a:tc>
              </a:tr>
              <a:tr h="0">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01  Conversation 2.0</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Removes drop-off; rich UI lifts return rate</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Returning users × 2</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End employees</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02  Assistants 2.0</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From ~2 to 50+ assistants per tenant</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Coverage × 10</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All customers</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0">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03  Actionable Analytics</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Closes admin feedback loop, retention</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Healthy tenants × 1.5</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Studio admins</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950" b="1" dirty="0">
                          <a:solidFill>
                            <a:srgbClr val="FF9600"/>
                          </a:solidFill>
                          <a:latin typeface="Inter" pitchFamily="34" charset="0"/>
                          <a:ea typeface="Inter" pitchFamily="34" charset="-122"/>
                          <a:cs typeface="Inter" pitchFamily="34" charset="-120"/>
                        </a:rPr>
                        <a:t>04  Navigator Concierge</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Unlocks dormant tenants stuck in setup</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Activated tenants × 3</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All customers, GTM</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0">
                <a:tc>
                  <a:txBody>
                    <a:bodyPr/>
                    <a:lstStyle/>
                    <a:p>
                      <a:pPr algn="l" indent="0" marL="0">
                        <a:buNone/>
                      </a:pPr>
                      <a:r>
                        <a:rPr lang="en-US" sz="950" b="1" dirty="0">
                          <a:solidFill>
                            <a:srgbClr val="FF9600"/>
                          </a:solidFill>
                          <a:latin typeface="Inter" pitchFamily="34" charset="0"/>
                          <a:ea typeface="Inter" pitchFamily="34" charset="-122"/>
                          <a:cs typeface="Inter" pitchFamily="34" charset="-120"/>
                        </a:rPr>
                        <a:t>05  MCP + A2A Orchestration</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Each new system = new JTBD</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Use cases / user × 3+</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Enterprise tenants</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950" b="1" dirty="0">
                          <a:solidFill>
                            <a:srgbClr val="FF9600"/>
                          </a:solidFill>
                          <a:latin typeface="Inter" pitchFamily="34" charset="0"/>
                          <a:ea typeface="Inter" pitchFamily="34" charset="-122"/>
                          <a:cs typeface="Inter" pitchFamily="34" charset="-120"/>
                        </a:rPr>
                        <a:t>06  Staffbase MCP</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Every intranet feature inherits Navigator UX</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Surface area × 5</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Up to 6M TAM</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0">
                <a:tc>
                  <a:txBody>
                    <a:bodyPr/>
                    <a:lstStyle/>
                    <a:p>
                      <a:pPr algn="l" indent="0" marL="0">
                        <a:buNone/>
                      </a:pPr>
                      <a:r>
                        <a:rPr lang="en-US" sz="950" b="1" dirty="0">
                          <a:solidFill>
                            <a:srgbClr val="FF9600"/>
                          </a:solidFill>
                          <a:latin typeface="Inter" pitchFamily="34" charset="0"/>
                          <a:ea typeface="Inter" pitchFamily="34" charset="-122"/>
                          <a:cs typeface="Inter" pitchFamily="34" charset="-120"/>
                        </a:rPr>
                        <a:t>07  Search ⇄ Navigator</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Convert Staffbase's #1 used feature</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Entry points × 5–10</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090D48"/>
                          </a:solidFill>
                          <a:latin typeface="Inter" pitchFamily="34" charset="0"/>
                          <a:ea typeface="Inter" pitchFamily="34" charset="-122"/>
                          <a:cs typeface="Inter" pitchFamily="34" charset="-120"/>
                        </a:rPr>
                        <a:t>Up to 6M TAM</a:t>
                      </a:r>
                      <a:endParaRPr lang="en-US" sz="950" dirty="0">
                        <a:latin typeface="Inter" charset="0"/>
                        <a:ea typeface="Inter" charset="0"/>
                        <a:cs typeface="Inter" charset="0"/>
                      </a:endParaRPr>
                    </a:p>
                  </a:txBody>
                  <a:tcPr marL="76200" marR="762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365760" y="4617720"/>
            <a:ext cx="8412480" cy="228600"/>
          </a:xfrm>
          <a:prstGeom prst="rect">
            <a:avLst/>
          </a:prstGeom>
          <a:noFill/>
          <a:ln/>
        </p:spPr>
        <p:txBody>
          <a:bodyPr wrap="square" lIns="0" tIns="0" rIns="0" bIns="0" rtlCol="0" anchor="ctr"/>
          <a:lstStyle/>
          <a:p>
            <a:pPr indent="0" marL="0">
              <a:buNone/>
            </a:pPr>
            <a:r>
              <a:rPr lang="en-US" sz="850" i="1" dirty="0">
                <a:solidFill>
                  <a:srgbClr val="9B9B9B"/>
                </a:solidFill>
                <a:latin typeface="Inter" pitchFamily="34" charset="0"/>
                <a:ea typeface="Inter" pitchFamily="34" charset="-122"/>
                <a:cs typeface="Inter" pitchFamily="34" charset="-120"/>
              </a:rPr>
              <a:t>Multipliers are directional guidance. Real numbers land once Q2 baseline is set in Aggregated Analytics.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3000" dirty="0">
                <a:solidFill>
                  <a:srgbClr val="090D48"/>
                </a:solidFill>
                <a:latin typeface="Epilogue ExtraBold" pitchFamily="34" charset="0"/>
                <a:ea typeface="Epilogue ExtraBold" pitchFamily="34" charset="-122"/>
                <a:cs typeface="Epilogue ExtraBold" pitchFamily="34" charset="-120"/>
              </a:rPr>
              <a:t>THE FOUR NET-NEW BETS</a:t>
            </a:r>
            <a:endParaRPr lang="en-US" sz="30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100" b="1" dirty="0">
                <a:solidFill>
                  <a:srgbClr val="FF9600"/>
                </a:solidFill>
                <a:latin typeface="Inter" pitchFamily="34" charset="0"/>
                <a:ea typeface="Inter" pitchFamily="34" charset="-122"/>
                <a:cs typeface="Inter" pitchFamily="34" charset="-120"/>
              </a:rPr>
              <a:t>WHY EACH ONE IS WORTH A SEPARATE PILLAR</a:t>
            </a:r>
            <a:endParaRPr lang="en-US" sz="1100" dirty="0"/>
          </a:p>
        </p:txBody>
      </p:sp>
      <p:sp>
        <p:nvSpPr>
          <p:cNvPr id="4" name="Shape 2"/>
          <p:cNvSpPr/>
          <p:nvPr/>
        </p:nvSpPr>
        <p:spPr>
          <a:xfrm>
            <a:off x="365760" y="1325880"/>
            <a:ext cx="2000250" cy="3337560"/>
          </a:xfrm>
          <a:prstGeom prst="roundRect">
            <a:avLst>
              <a:gd name="adj" fmla="val 5486"/>
            </a:avLst>
          </a:prstGeom>
          <a:solidFill>
            <a:srgbClr val="FFFFFF"/>
          </a:solidFill>
          <a:ln/>
          <a:effectLst>
            <a:outerShdw sx="100000" sy="100000" kx="0" ky="0" algn="bl" rotWithShape="0" blurRad="38100" dist="25400" dir="8100000">
              <a:srgbClr val="000000">
                <a:alpha val="7000"/>
              </a:srgbClr>
            </a:outerShdw>
          </a:effectLst>
        </p:spPr>
      </p:sp>
      <p:sp>
        <p:nvSpPr>
          <p:cNvPr id="5" name="Text 3"/>
          <p:cNvSpPr/>
          <p:nvPr/>
        </p:nvSpPr>
        <p:spPr>
          <a:xfrm>
            <a:off x="502920" y="1490472"/>
            <a:ext cx="1725930" cy="640080"/>
          </a:xfrm>
          <a:prstGeom prst="rect">
            <a:avLst/>
          </a:prstGeom>
          <a:noFill/>
          <a:ln/>
        </p:spPr>
        <p:txBody>
          <a:bodyPr wrap="square" lIns="0" tIns="0" rIns="0" bIns="0" rtlCol="0" anchor="ctr"/>
          <a:lstStyle/>
          <a:p>
            <a:pPr indent="0" marL="0">
              <a:buNone/>
            </a:pPr>
            <a:r>
              <a:rPr lang="en-US" sz="1200" b="1" dirty="0">
                <a:solidFill>
                  <a:srgbClr val="006CFF"/>
                </a:solidFill>
                <a:latin typeface="Epilogue" pitchFamily="34" charset="0"/>
                <a:ea typeface="Epilogue" pitchFamily="34" charset="-122"/>
                <a:cs typeface="Epilogue" pitchFamily="34" charset="-120"/>
              </a:rPr>
              <a:t>NAVIGATOR CONCIERGE</a:t>
            </a:r>
            <a:endParaRPr lang="en-US" sz="1200" dirty="0"/>
          </a:p>
        </p:txBody>
      </p:sp>
      <p:sp>
        <p:nvSpPr>
          <p:cNvPr id="6" name="Text 4"/>
          <p:cNvSpPr/>
          <p:nvPr/>
        </p:nvSpPr>
        <p:spPr>
          <a:xfrm>
            <a:off x="502920" y="2194560"/>
            <a:ext cx="1725930" cy="1783080"/>
          </a:xfrm>
          <a:prstGeom prst="rect">
            <a:avLst/>
          </a:prstGeom>
          <a:noFill/>
          <a:ln/>
        </p:spPr>
        <p:txBody>
          <a:bodyPr wrap="square" lIns="0" tIns="0" rIns="0" bIns="0" rtlCol="0" anchor="t"/>
          <a:lstStyle/>
          <a:p>
            <a:pPr indent="0" marL="0">
              <a:lnSpc>
                <a:spcPct val="140000"/>
              </a:lnSpc>
              <a:buNone/>
            </a:pPr>
            <a:r>
              <a:rPr lang="en-US" sz="950" dirty="0">
                <a:solidFill>
                  <a:srgbClr val="090D48"/>
                </a:solidFill>
                <a:latin typeface="Inter" pitchFamily="34" charset="0"/>
                <a:ea typeface="Inter" pitchFamily="34" charset="-122"/>
                <a:cs typeface="Inter" pitchFamily="34" charset="-120"/>
              </a:rPr>
              <a:t>We do the setup work for the customer. First-run wizard, audit/refresh tool, CSM-facing tab in Studio. Customers stop concluding Navigator is broken when it is actually unconfigured.</a:t>
            </a:r>
            <a:endParaRPr lang="en-US" sz="950" dirty="0"/>
          </a:p>
        </p:txBody>
      </p:sp>
      <p:sp>
        <p:nvSpPr>
          <p:cNvPr id="7" name="Shape 5"/>
          <p:cNvSpPr/>
          <p:nvPr/>
        </p:nvSpPr>
        <p:spPr>
          <a:xfrm>
            <a:off x="502920" y="3977640"/>
            <a:ext cx="1725930" cy="548640"/>
          </a:xfrm>
          <a:prstGeom prst="roundRect">
            <a:avLst>
              <a:gd name="adj" fmla="val 13333"/>
            </a:avLst>
          </a:prstGeom>
          <a:solidFill>
            <a:srgbClr val="F3F3F3"/>
          </a:solidFill>
          <a:ln w="6350">
            <a:solidFill>
              <a:srgbClr val="D9D9D9"/>
            </a:solidFill>
            <a:prstDash val="solid"/>
          </a:ln>
        </p:spPr>
      </p:sp>
      <p:sp>
        <p:nvSpPr>
          <p:cNvPr id="8" name="Text 6"/>
          <p:cNvSpPr/>
          <p:nvPr/>
        </p:nvSpPr>
        <p:spPr>
          <a:xfrm>
            <a:off x="594360" y="4023360"/>
            <a:ext cx="1543050" cy="182880"/>
          </a:xfrm>
          <a:prstGeom prst="rect">
            <a:avLst/>
          </a:prstGeom>
          <a:noFill/>
          <a:ln/>
        </p:spPr>
        <p:txBody>
          <a:bodyPr wrap="square" lIns="0" tIns="0" rIns="0" bIns="0" rtlCol="0" anchor="ctr"/>
          <a:lstStyle/>
          <a:p>
            <a:pPr indent="0" marL="0">
              <a:buNone/>
            </a:pPr>
            <a:r>
              <a:rPr lang="en-US" sz="750" b="1" dirty="0">
                <a:solidFill>
                  <a:srgbClr val="006CFF"/>
                </a:solidFill>
                <a:latin typeface="Inter" pitchFamily="34" charset="0"/>
                <a:ea typeface="Inter" pitchFamily="34" charset="-122"/>
                <a:cs typeface="Inter" pitchFamily="34" charset="-120"/>
              </a:rPr>
              <a:t>EVIDENCE</a:t>
            </a:r>
            <a:endParaRPr lang="en-US" sz="750" dirty="0"/>
          </a:p>
        </p:txBody>
      </p:sp>
      <p:sp>
        <p:nvSpPr>
          <p:cNvPr id="9" name="Text 7"/>
          <p:cNvSpPr/>
          <p:nvPr/>
        </p:nvSpPr>
        <p:spPr>
          <a:xfrm>
            <a:off x="594360" y="4224528"/>
            <a:ext cx="1543050" cy="365760"/>
          </a:xfrm>
          <a:prstGeom prst="rect">
            <a:avLst/>
          </a:prstGeom>
          <a:noFill/>
          <a:ln/>
        </p:spPr>
        <p:txBody>
          <a:bodyPr wrap="square" lIns="0" tIns="0" rIns="0" bIns="0" rtlCol="0" anchor="t"/>
          <a:lstStyle/>
          <a:p>
            <a:pPr indent="0" marL="0">
              <a:lnSpc>
                <a:spcPct val="125000"/>
              </a:lnSpc>
              <a:buNone/>
            </a:pPr>
            <a:r>
              <a:rPr lang="en-US" sz="850" i="1" dirty="0">
                <a:solidFill>
                  <a:srgbClr val="090D48"/>
                </a:solidFill>
                <a:latin typeface="Inter" pitchFamily="34" charset="0"/>
                <a:ea typeface="Inter" pitchFamily="34" charset="-122"/>
                <a:cs typeface="Inter" pitchFamily="34" charset="-120"/>
              </a:rPr>
              <a:t>Hackathon asset, ready to productize.</a:t>
            </a:r>
            <a:endParaRPr lang="en-US" sz="850" dirty="0"/>
          </a:p>
        </p:txBody>
      </p:sp>
      <p:sp>
        <p:nvSpPr>
          <p:cNvPr id="10" name="Shape 8"/>
          <p:cNvSpPr/>
          <p:nvPr/>
        </p:nvSpPr>
        <p:spPr>
          <a:xfrm>
            <a:off x="2503170" y="1325880"/>
            <a:ext cx="2000250" cy="3337560"/>
          </a:xfrm>
          <a:prstGeom prst="roundRect">
            <a:avLst>
              <a:gd name="adj" fmla="val 5486"/>
            </a:avLst>
          </a:prstGeom>
          <a:solidFill>
            <a:srgbClr val="FFFFFF"/>
          </a:solidFill>
          <a:ln/>
          <a:effectLst>
            <a:outerShdw sx="100000" sy="100000" kx="0" ky="0" algn="bl" rotWithShape="0" blurRad="38100" dist="25400" dir="8100000">
              <a:srgbClr val="000000">
                <a:alpha val="7000"/>
              </a:srgbClr>
            </a:outerShdw>
          </a:effectLst>
        </p:spPr>
      </p:sp>
      <p:sp>
        <p:nvSpPr>
          <p:cNvPr id="11" name="Text 9"/>
          <p:cNvSpPr/>
          <p:nvPr/>
        </p:nvSpPr>
        <p:spPr>
          <a:xfrm>
            <a:off x="2640330" y="1490472"/>
            <a:ext cx="1725930" cy="640080"/>
          </a:xfrm>
          <a:prstGeom prst="rect">
            <a:avLst/>
          </a:prstGeom>
          <a:noFill/>
          <a:ln/>
        </p:spPr>
        <p:txBody>
          <a:bodyPr wrap="square" lIns="0" tIns="0" rIns="0" bIns="0" rtlCol="0" anchor="ctr"/>
          <a:lstStyle/>
          <a:p>
            <a:pPr indent="0" marL="0">
              <a:buNone/>
            </a:pPr>
            <a:r>
              <a:rPr lang="en-US" sz="1200" b="1" dirty="0">
                <a:solidFill>
                  <a:srgbClr val="23B4FF"/>
                </a:solidFill>
                <a:latin typeface="Epilogue" pitchFamily="34" charset="0"/>
                <a:ea typeface="Epilogue" pitchFamily="34" charset="-122"/>
                <a:cs typeface="Epilogue" pitchFamily="34" charset="-120"/>
              </a:rPr>
              <a:t>MCP + A2A ORCHESTRATION</a:t>
            </a:r>
            <a:endParaRPr lang="en-US" sz="1200" dirty="0"/>
          </a:p>
        </p:txBody>
      </p:sp>
      <p:sp>
        <p:nvSpPr>
          <p:cNvPr id="12" name="Text 10"/>
          <p:cNvSpPr/>
          <p:nvPr/>
        </p:nvSpPr>
        <p:spPr>
          <a:xfrm>
            <a:off x="2640330" y="2194560"/>
            <a:ext cx="1725930" cy="1783080"/>
          </a:xfrm>
          <a:prstGeom prst="rect">
            <a:avLst/>
          </a:prstGeom>
          <a:noFill/>
          <a:ln/>
        </p:spPr>
        <p:txBody>
          <a:bodyPr wrap="square" lIns="0" tIns="0" rIns="0" bIns="0" rtlCol="0" anchor="t"/>
          <a:lstStyle/>
          <a:p>
            <a:pPr indent="0" marL="0">
              <a:lnSpc>
                <a:spcPct val="140000"/>
              </a:lnSpc>
              <a:buNone/>
            </a:pPr>
            <a:r>
              <a:rPr lang="en-US" sz="950" dirty="0">
                <a:solidFill>
                  <a:srgbClr val="090D48"/>
                </a:solidFill>
                <a:latin typeface="Inter" pitchFamily="34" charset="0"/>
                <a:ea typeface="Inter" pitchFamily="34" charset="-122"/>
                <a:cs typeface="Inter" pitchFamily="34" charset="-120"/>
              </a:rPr>
              <a:t>Discovery of tools, resources, prompts, skill cards on any customer MCP/A2A. User-token identity passthrough keeps RBAC intact. Navigator becomes the front of all customer AI.</a:t>
            </a:r>
            <a:endParaRPr lang="en-US" sz="950" dirty="0"/>
          </a:p>
        </p:txBody>
      </p:sp>
      <p:sp>
        <p:nvSpPr>
          <p:cNvPr id="13" name="Shape 11"/>
          <p:cNvSpPr/>
          <p:nvPr/>
        </p:nvSpPr>
        <p:spPr>
          <a:xfrm>
            <a:off x="2640330" y="3977640"/>
            <a:ext cx="1725930" cy="548640"/>
          </a:xfrm>
          <a:prstGeom prst="roundRect">
            <a:avLst>
              <a:gd name="adj" fmla="val 13333"/>
            </a:avLst>
          </a:prstGeom>
          <a:solidFill>
            <a:srgbClr val="F3F3F3"/>
          </a:solidFill>
          <a:ln w="6350">
            <a:solidFill>
              <a:srgbClr val="D9D9D9"/>
            </a:solidFill>
            <a:prstDash val="solid"/>
          </a:ln>
        </p:spPr>
      </p:sp>
      <p:sp>
        <p:nvSpPr>
          <p:cNvPr id="14" name="Text 12"/>
          <p:cNvSpPr/>
          <p:nvPr/>
        </p:nvSpPr>
        <p:spPr>
          <a:xfrm>
            <a:off x="2731770" y="4023360"/>
            <a:ext cx="1543050" cy="182880"/>
          </a:xfrm>
          <a:prstGeom prst="rect">
            <a:avLst/>
          </a:prstGeom>
          <a:noFill/>
          <a:ln/>
        </p:spPr>
        <p:txBody>
          <a:bodyPr wrap="square" lIns="0" tIns="0" rIns="0" bIns="0" rtlCol="0" anchor="ctr"/>
          <a:lstStyle/>
          <a:p>
            <a:pPr indent="0" marL="0">
              <a:buNone/>
            </a:pPr>
            <a:r>
              <a:rPr lang="en-US" sz="750" b="1" dirty="0">
                <a:solidFill>
                  <a:srgbClr val="23B4FF"/>
                </a:solidFill>
                <a:latin typeface="Inter" pitchFamily="34" charset="0"/>
                <a:ea typeface="Inter" pitchFamily="34" charset="-122"/>
                <a:cs typeface="Inter" pitchFamily="34" charset="-120"/>
              </a:rPr>
              <a:t>EVIDENCE</a:t>
            </a:r>
            <a:endParaRPr lang="en-US" sz="750" dirty="0"/>
          </a:p>
        </p:txBody>
      </p:sp>
      <p:sp>
        <p:nvSpPr>
          <p:cNvPr id="15" name="Text 13"/>
          <p:cNvSpPr/>
          <p:nvPr/>
        </p:nvSpPr>
        <p:spPr>
          <a:xfrm>
            <a:off x="2731770" y="4224528"/>
            <a:ext cx="1543050" cy="365760"/>
          </a:xfrm>
          <a:prstGeom prst="rect">
            <a:avLst/>
          </a:prstGeom>
          <a:noFill/>
          <a:ln/>
        </p:spPr>
        <p:txBody>
          <a:bodyPr wrap="square" lIns="0" tIns="0" rIns="0" bIns="0" rtlCol="0" anchor="t"/>
          <a:lstStyle/>
          <a:p>
            <a:pPr indent="0" marL="0">
              <a:lnSpc>
                <a:spcPct val="125000"/>
              </a:lnSpc>
              <a:buNone/>
            </a:pPr>
            <a:r>
              <a:rPr lang="en-US" sz="850" i="1" dirty="0">
                <a:solidFill>
                  <a:srgbClr val="090D48"/>
                </a:solidFill>
                <a:latin typeface="Inter" pitchFamily="34" charset="0"/>
                <a:ea typeface="Inter" pitchFamily="34" charset="-122"/>
                <a:cs typeface="Inter" pitchFamily="34" charset="-120"/>
              </a:rPr>
              <a:t>PRD live (page 6791364650). Identity sub-PRD in flight.</a:t>
            </a:r>
            <a:endParaRPr lang="en-US" sz="850" dirty="0"/>
          </a:p>
        </p:txBody>
      </p:sp>
      <p:sp>
        <p:nvSpPr>
          <p:cNvPr id="16" name="Shape 14"/>
          <p:cNvSpPr/>
          <p:nvPr/>
        </p:nvSpPr>
        <p:spPr>
          <a:xfrm>
            <a:off x="4640580" y="1325880"/>
            <a:ext cx="2000250" cy="3337560"/>
          </a:xfrm>
          <a:prstGeom prst="roundRect">
            <a:avLst>
              <a:gd name="adj" fmla="val 5486"/>
            </a:avLst>
          </a:prstGeom>
          <a:solidFill>
            <a:srgbClr val="FFFFFF"/>
          </a:solidFill>
          <a:ln/>
          <a:effectLst>
            <a:outerShdw sx="100000" sy="100000" kx="0" ky="0" algn="bl" rotWithShape="0" blurRad="38100" dist="25400" dir="8100000">
              <a:srgbClr val="000000">
                <a:alpha val="7000"/>
              </a:srgbClr>
            </a:outerShdw>
          </a:effectLst>
        </p:spPr>
      </p:sp>
      <p:sp>
        <p:nvSpPr>
          <p:cNvPr id="17" name="Text 15"/>
          <p:cNvSpPr/>
          <p:nvPr/>
        </p:nvSpPr>
        <p:spPr>
          <a:xfrm>
            <a:off x="4777740" y="1490472"/>
            <a:ext cx="1725930" cy="640080"/>
          </a:xfrm>
          <a:prstGeom prst="rect">
            <a:avLst/>
          </a:prstGeom>
          <a:noFill/>
          <a:ln/>
        </p:spPr>
        <p:txBody>
          <a:bodyPr wrap="square" lIns="0" tIns="0" rIns="0" bIns="0" rtlCol="0" anchor="ctr"/>
          <a:lstStyle/>
          <a:p>
            <a:pPr indent="0" marL="0">
              <a:buNone/>
            </a:pPr>
            <a:r>
              <a:rPr lang="en-US" sz="1200" b="1" dirty="0">
                <a:solidFill>
                  <a:srgbClr val="FF9600"/>
                </a:solidFill>
                <a:latin typeface="Epilogue" pitchFamily="34" charset="0"/>
                <a:ea typeface="Epilogue" pitchFamily="34" charset="-122"/>
                <a:cs typeface="Epilogue" pitchFamily="34" charset="-120"/>
              </a:rPr>
              <a:t>STAFFBASE MCP</a:t>
            </a:r>
            <a:endParaRPr lang="en-US" sz="1200" dirty="0"/>
          </a:p>
        </p:txBody>
      </p:sp>
      <p:sp>
        <p:nvSpPr>
          <p:cNvPr id="18" name="Text 16"/>
          <p:cNvSpPr/>
          <p:nvPr/>
        </p:nvSpPr>
        <p:spPr>
          <a:xfrm>
            <a:off x="4777740" y="2194560"/>
            <a:ext cx="1725930" cy="1783080"/>
          </a:xfrm>
          <a:prstGeom prst="rect">
            <a:avLst/>
          </a:prstGeom>
          <a:noFill/>
          <a:ln/>
        </p:spPr>
        <p:txBody>
          <a:bodyPr wrap="square" lIns="0" tIns="0" rIns="0" bIns="0" rtlCol="0" anchor="t"/>
          <a:lstStyle/>
          <a:p>
            <a:pPr indent="0" marL="0">
              <a:lnSpc>
                <a:spcPct val="140000"/>
              </a:lnSpc>
              <a:buNone/>
            </a:pPr>
            <a:r>
              <a:rPr lang="en-US" sz="950" dirty="0">
                <a:solidFill>
                  <a:srgbClr val="090D48"/>
                </a:solidFill>
                <a:latin typeface="Inter" pitchFamily="34" charset="0"/>
                <a:ea typeface="Inter" pitchFamily="34" charset="-122"/>
                <a:cs typeface="Inter" pitchFamily="34" charset="-120"/>
              </a:rPr>
              <a:t>Tilo &amp; Martin's work exposes every Staffbase capability through a standard agentic layer. Navigator becomes the conversation surface for the entire intranet: content, channels, campaigns, people.</a:t>
            </a:r>
            <a:endParaRPr lang="en-US" sz="950" dirty="0"/>
          </a:p>
        </p:txBody>
      </p:sp>
      <p:sp>
        <p:nvSpPr>
          <p:cNvPr id="19" name="Shape 17"/>
          <p:cNvSpPr/>
          <p:nvPr/>
        </p:nvSpPr>
        <p:spPr>
          <a:xfrm>
            <a:off x="4777740" y="3977640"/>
            <a:ext cx="1725930" cy="548640"/>
          </a:xfrm>
          <a:prstGeom prst="roundRect">
            <a:avLst>
              <a:gd name="adj" fmla="val 13333"/>
            </a:avLst>
          </a:prstGeom>
          <a:solidFill>
            <a:srgbClr val="F3F3F3"/>
          </a:solidFill>
          <a:ln w="6350">
            <a:solidFill>
              <a:srgbClr val="D9D9D9"/>
            </a:solidFill>
            <a:prstDash val="solid"/>
          </a:ln>
        </p:spPr>
      </p:sp>
      <p:sp>
        <p:nvSpPr>
          <p:cNvPr id="20" name="Text 18"/>
          <p:cNvSpPr/>
          <p:nvPr/>
        </p:nvSpPr>
        <p:spPr>
          <a:xfrm>
            <a:off x="4869180" y="4023360"/>
            <a:ext cx="1543050" cy="182880"/>
          </a:xfrm>
          <a:prstGeom prst="rect">
            <a:avLst/>
          </a:prstGeom>
          <a:noFill/>
          <a:ln/>
        </p:spPr>
        <p:txBody>
          <a:bodyPr wrap="square" lIns="0" tIns="0" rIns="0" bIns="0" rtlCol="0" anchor="ctr"/>
          <a:lstStyle/>
          <a:p>
            <a:pPr indent="0" marL="0">
              <a:buNone/>
            </a:pPr>
            <a:r>
              <a:rPr lang="en-US" sz="750" b="1" dirty="0">
                <a:solidFill>
                  <a:srgbClr val="FF9600"/>
                </a:solidFill>
                <a:latin typeface="Inter" pitchFamily="34" charset="0"/>
                <a:ea typeface="Inter" pitchFamily="34" charset="-122"/>
                <a:cs typeface="Inter" pitchFamily="34" charset="-120"/>
              </a:rPr>
              <a:t>EVIDENCE</a:t>
            </a:r>
            <a:endParaRPr lang="en-US" sz="750" dirty="0"/>
          </a:p>
        </p:txBody>
      </p:sp>
      <p:sp>
        <p:nvSpPr>
          <p:cNvPr id="21" name="Text 19"/>
          <p:cNvSpPr/>
          <p:nvPr/>
        </p:nvSpPr>
        <p:spPr>
          <a:xfrm>
            <a:off x="4869180" y="4224528"/>
            <a:ext cx="1543050" cy="365760"/>
          </a:xfrm>
          <a:prstGeom prst="rect">
            <a:avLst/>
          </a:prstGeom>
          <a:noFill/>
          <a:ln/>
        </p:spPr>
        <p:txBody>
          <a:bodyPr wrap="square" lIns="0" tIns="0" rIns="0" bIns="0" rtlCol="0" anchor="t"/>
          <a:lstStyle/>
          <a:p>
            <a:pPr indent="0" marL="0">
              <a:lnSpc>
                <a:spcPct val="125000"/>
              </a:lnSpc>
              <a:buNone/>
            </a:pPr>
            <a:r>
              <a:rPr lang="en-US" sz="850" i="1" dirty="0">
                <a:solidFill>
                  <a:srgbClr val="090D48"/>
                </a:solidFill>
                <a:latin typeface="Inter" pitchFamily="34" charset="0"/>
                <a:ea typeface="Inter" pitchFamily="34" charset="-122"/>
                <a:cs typeface="Inter" pitchFamily="34" charset="-120"/>
              </a:rPr>
              <a:t>Flywheel: ships Staffbase, gets Navigator UX free.</a:t>
            </a:r>
            <a:endParaRPr lang="en-US" sz="850" dirty="0"/>
          </a:p>
        </p:txBody>
      </p:sp>
      <p:sp>
        <p:nvSpPr>
          <p:cNvPr id="22" name="Shape 20"/>
          <p:cNvSpPr/>
          <p:nvPr/>
        </p:nvSpPr>
        <p:spPr>
          <a:xfrm>
            <a:off x="6777990" y="1325880"/>
            <a:ext cx="2000250" cy="3337560"/>
          </a:xfrm>
          <a:prstGeom prst="roundRect">
            <a:avLst>
              <a:gd name="adj" fmla="val 5486"/>
            </a:avLst>
          </a:prstGeom>
          <a:solidFill>
            <a:srgbClr val="FFFFFF"/>
          </a:solidFill>
          <a:ln/>
          <a:effectLst>
            <a:outerShdw sx="100000" sy="100000" kx="0" ky="0" algn="bl" rotWithShape="0" blurRad="38100" dist="25400" dir="8100000">
              <a:srgbClr val="000000">
                <a:alpha val="7000"/>
              </a:srgbClr>
            </a:outerShdw>
          </a:effectLst>
        </p:spPr>
      </p:sp>
      <p:sp>
        <p:nvSpPr>
          <p:cNvPr id="23" name="Text 21"/>
          <p:cNvSpPr/>
          <p:nvPr/>
        </p:nvSpPr>
        <p:spPr>
          <a:xfrm>
            <a:off x="6915150" y="1490472"/>
            <a:ext cx="1725930" cy="640080"/>
          </a:xfrm>
          <a:prstGeom prst="rect">
            <a:avLst/>
          </a:prstGeom>
          <a:noFill/>
          <a:ln/>
        </p:spPr>
        <p:txBody>
          <a:bodyPr wrap="square" lIns="0" tIns="0" rIns="0" bIns="0" rtlCol="0" anchor="ctr"/>
          <a:lstStyle/>
          <a:p>
            <a:pPr indent="0" marL="0">
              <a:buNone/>
            </a:pPr>
            <a:r>
              <a:rPr lang="en-US" sz="1200" b="1" dirty="0">
                <a:solidFill>
                  <a:srgbClr val="7A47D1"/>
                </a:solidFill>
                <a:latin typeface="Epilogue" pitchFamily="34" charset="0"/>
                <a:ea typeface="Epilogue" pitchFamily="34" charset="-122"/>
                <a:cs typeface="Epilogue" pitchFamily="34" charset="-120"/>
              </a:rPr>
              <a:t>SEARCH ⇄ NAVIGATOR</a:t>
            </a:r>
            <a:endParaRPr lang="en-US" sz="1200" dirty="0"/>
          </a:p>
        </p:txBody>
      </p:sp>
      <p:sp>
        <p:nvSpPr>
          <p:cNvPr id="24" name="Text 22"/>
          <p:cNvSpPr/>
          <p:nvPr/>
        </p:nvSpPr>
        <p:spPr>
          <a:xfrm>
            <a:off x="6915150" y="2194560"/>
            <a:ext cx="1725930" cy="1783080"/>
          </a:xfrm>
          <a:prstGeom prst="rect">
            <a:avLst/>
          </a:prstGeom>
          <a:noFill/>
          <a:ln/>
        </p:spPr>
        <p:txBody>
          <a:bodyPr wrap="square" lIns="0" tIns="0" rIns="0" bIns="0" rtlCol="0" anchor="t"/>
          <a:lstStyle/>
          <a:p>
            <a:pPr indent="0" marL="0">
              <a:lnSpc>
                <a:spcPct val="140000"/>
              </a:lnSpc>
              <a:buNone/>
            </a:pPr>
            <a:r>
              <a:rPr lang="en-US" sz="950" dirty="0">
                <a:solidFill>
                  <a:srgbClr val="090D48"/>
                </a:solidFill>
                <a:latin typeface="Inter" pitchFamily="34" charset="0"/>
                <a:ea typeface="Inter" pitchFamily="34" charset="-122"/>
                <a:cs typeface="Inter" pitchFamily="34" charset="-120"/>
              </a:rPr>
              <a:t>Same models, same data sources, seamless handover. Every search becomes a possible conversation. Search is the most-used feature in Staffbase: this is the largest single MAU lever.</a:t>
            </a:r>
            <a:endParaRPr lang="en-US" sz="950" dirty="0"/>
          </a:p>
        </p:txBody>
      </p:sp>
      <p:sp>
        <p:nvSpPr>
          <p:cNvPr id="25" name="Shape 23"/>
          <p:cNvSpPr/>
          <p:nvPr/>
        </p:nvSpPr>
        <p:spPr>
          <a:xfrm>
            <a:off x="6915150" y="3977640"/>
            <a:ext cx="1725930" cy="548640"/>
          </a:xfrm>
          <a:prstGeom prst="roundRect">
            <a:avLst>
              <a:gd name="adj" fmla="val 13333"/>
            </a:avLst>
          </a:prstGeom>
          <a:solidFill>
            <a:srgbClr val="F3F3F3"/>
          </a:solidFill>
          <a:ln w="6350">
            <a:solidFill>
              <a:srgbClr val="D9D9D9"/>
            </a:solidFill>
            <a:prstDash val="solid"/>
          </a:ln>
        </p:spPr>
      </p:sp>
      <p:sp>
        <p:nvSpPr>
          <p:cNvPr id="26" name="Text 24"/>
          <p:cNvSpPr/>
          <p:nvPr/>
        </p:nvSpPr>
        <p:spPr>
          <a:xfrm>
            <a:off x="7006590" y="4023360"/>
            <a:ext cx="1543050" cy="182880"/>
          </a:xfrm>
          <a:prstGeom prst="rect">
            <a:avLst/>
          </a:prstGeom>
          <a:noFill/>
          <a:ln/>
        </p:spPr>
        <p:txBody>
          <a:bodyPr wrap="square" lIns="0" tIns="0" rIns="0" bIns="0" rtlCol="0" anchor="ctr"/>
          <a:lstStyle/>
          <a:p>
            <a:pPr indent="0" marL="0">
              <a:buNone/>
            </a:pPr>
            <a:r>
              <a:rPr lang="en-US" sz="750" b="1" dirty="0">
                <a:solidFill>
                  <a:srgbClr val="7A47D1"/>
                </a:solidFill>
                <a:latin typeface="Inter" pitchFamily="34" charset="0"/>
                <a:ea typeface="Inter" pitchFamily="34" charset="-122"/>
                <a:cs typeface="Inter" pitchFamily="34" charset="-120"/>
              </a:rPr>
              <a:t>EVIDENCE</a:t>
            </a:r>
            <a:endParaRPr lang="en-US" sz="750" dirty="0"/>
          </a:p>
        </p:txBody>
      </p:sp>
      <p:sp>
        <p:nvSpPr>
          <p:cNvPr id="27" name="Text 25"/>
          <p:cNvSpPr/>
          <p:nvPr/>
        </p:nvSpPr>
        <p:spPr>
          <a:xfrm>
            <a:off x="7006590" y="4224528"/>
            <a:ext cx="1543050" cy="365760"/>
          </a:xfrm>
          <a:prstGeom prst="rect">
            <a:avLst/>
          </a:prstGeom>
          <a:noFill/>
          <a:ln/>
        </p:spPr>
        <p:txBody>
          <a:bodyPr wrap="square" lIns="0" tIns="0" rIns="0" bIns="0" rtlCol="0" anchor="t"/>
          <a:lstStyle/>
          <a:p>
            <a:pPr indent="0" marL="0">
              <a:lnSpc>
                <a:spcPct val="125000"/>
              </a:lnSpc>
              <a:buNone/>
            </a:pPr>
            <a:r>
              <a:rPr lang="en-US" sz="850" i="1" dirty="0">
                <a:solidFill>
                  <a:srgbClr val="090D48"/>
                </a:solidFill>
                <a:latin typeface="Inter" pitchFamily="34" charset="0"/>
                <a:ea typeface="Inter" pitchFamily="34" charset="-122"/>
                <a:cs typeface="Inter" pitchFamily="34" charset="-120"/>
              </a:rPr>
              <a:t>Foundations exist via MORI hybrid search.</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3000" dirty="0">
                <a:solidFill>
                  <a:srgbClr val="090D48"/>
                </a:solidFill>
                <a:latin typeface="Epilogue ExtraBold" pitchFamily="34" charset="0"/>
                <a:ea typeface="Epilogue ExtraBold" pitchFamily="34" charset="-122"/>
                <a:cs typeface="Epilogue ExtraBold" pitchFamily="34" charset="-120"/>
              </a:rPr>
              <a:t>TWO THINGS WE KILL NOW</a:t>
            </a:r>
            <a:endParaRPr lang="en-US" sz="30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100" b="1" dirty="0">
                <a:solidFill>
                  <a:srgbClr val="FF475D"/>
                </a:solidFill>
                <a:latin typeface="Inter" pitchFamily="34" charset="0"/>
                <a:ea typeface="Inter" pitchFamily="34" charset="-122"/>
                <a:cs typeface="Inter" pitchFamily="34" charset="-120"/>
              </a:rPr>
              <a:t>DEFERRALS COME LATER. THESE GO TODAY.</a:t>
            </a:r>
            <a:endParaRPr lang="en-US" sz="1100" dirty="0"/>
          </a:p>
        </p:txBody>
      </p:sp>
      <p:sp>
        <p:nvSpPr>
          <p:cNvPr id="4" name="Shape 2"/>
          <p:cNvSpPr/>
          <p:nvPr/>
        </p:nvSpPr>
        <p:spPr>
          <a:xfrm>
            <a:off x="365760" y="1325880"/>
            <a:ext cx="4114800" cy="3337560"/>
          </a:xfrm>
          <a:prstGeom prst="roundRect">
            <a:avLst>
              <a:gd name="adj" fmla="val 3288"/>
            </a:avLst>
          </a:prstGeom>
          <a:solidFill>
            <a:srgbClr val="FFF0F0"/>
          </a:solidFill>
          <a:ln w="6350">
            <a:solidFill>
              <a:srgbClr val="D9D9D9"/>
            </a:solidFill>
            <a:prstDash val="solid"/>
          </a:ln>
        </p:spPr>
      </p:sp>
      <p:sp>
        <p:nvSpPr>
          <p:cNvPr id="5" name="Text 3"/>
          <p:cNvSpPr/>
          <p:nvPr/>
        </p:nvSpPr>
        <p:spPr>
          <a:xfrm>
            <a:off x="548640" y="1508760"/>
            <a:ext cx="3749040" cy="274320"/>
          </a:xfrm>
          <a:prstGeom prst="rect">
            <a:avLst/>
          </a:prstGeom>
          <a:noFill/>
          <a:ln/>
        </p:spPr>
        <p:txBody>
          <a:bodyPr wrap="square" lIns="0" tIns="0" rIns="0" bIns="0" rtlCol="0" anchor="ctr"/>
          <a:lstStyle/>
          <a:p>
            <a:pPr indent="0" marL="0">
              <a:buNone/>
            </a:pPr>
            <a:r>
              <a:rPr lang="en-US" sz="1200" b="1" dirty="0">
                <a:solidFill>
                  <a:srgbClr val="FF475D"/>
                </a:solidFill>
                <a:latin typeface="Epilogue" pitchFamily="34" charset="0"/>
                <a:ea typeface="Epilogue" pitchFamily="34" charset="-122"/>
                <a:cs typeface="Epilogue" pitchFamily="34" charset="-120"/>
              </a:rPr>
              <a:t>KILL  ·  LIVE VOICE EXPERIENCE</a:t>
            </a:r>
            <a:endParaRPr lang="en-US" sz="1200" dirty="0"/>
          </a:p>
        </p:txBody>
      </p:sp>
      <p:sp>
        <p:nvSpPr>
          <p:cNvPr id="6" name="Text 4"/>
          <p:cNvSpPr/>
          <p:nvPr/>
        </p:nvSpPr>
        <p:spPr>
          <a:xfrm>
            <a:off x="548640" y="1801368"/>
            <a:ext cx="3749040" cy="274320"/>
          </a:xfrm>
          <a:prstGeom prst="rect">
            <a:avLst/>
          </a:prstGeom>
          <a:noFill/>
          <a:ln/>
        </p:spPr>
        <p:txBody>
          <a:bodyPr wrap="square" lIns="0" tIns="0" rIns="0" bIns="0" rtlCol="0" anchor="ctr"/>
          <a:lstStyle/>
          <a:p>
            <a:pPr indent="0" marL="0">
              <a:buNone/>
            </a:pPr>
            <a:r>
              <a:rPr lang="en-US" sz="1300" b="1" dirty="0">
                <a:solidFill>
                  <a:srgbClr val="090D48"/>
                </a:solidFill>
                <a:latin typeface="Epilogue" pitchFamily="34" charset="0"/>
                <a:ea typeface="Epilogue" pitchFamily="34" charset="-122"/>
                <a:cs typeface="Epilogue" pitchFamily="34" charset="-120"/>
              </a:rPr>
              <a:t>Replaced by push-to-talk</a:t>
            </a:r>
            <a:endParaRPr lang="en-US" sz="1300" dirty="0"/>
          </a:p>
        </p:txBody>
      </p:sp>
      <p:sp>
        <p:nvSpPr>
          <p:cNvPr id="7" name="Text 5"/>
          <p:cNvSpPr/>
          <p:nvPr/>
        </p:nvSpPr>
        <p:spPr>
          <a:xfrm>
            <a:off x="548640" y="2167128"/>
            <a:ext cx="3749040" cy="2331720"/>
          </a:xfrm>
          <a:prstGeom prst="rect">
            <a:avLst/>
          </a:prstGeom>
          <a:noFill/>
          <a:ln/>
        </p:spPr>
        <p:txBody>
          <a:bodyPr wrap="square" lIns="0" tIns="0" rIns="0" bIns="0" rtlCol="0" anchor="t"/>
          <a:lstStyle/>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Zero customer evidence that live conversation is needed. No deal, no CSM signal, no field ask.</a:t>
            </a:r>
            <a:endParaRPr lang="en-US" sz="1050" dirty="0"/>
          </a:p>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WebSocket-driven transport is the source of the mobile source-click bug and reconnection issues.</a:t>
            </a:r>
            <a:endParaRPr lang="en-US" sz="1050" dirty="0"/>
          </a:p>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Push-to-talk gives us the voice modality customers actually use, on a transport we control.</a:t>
            </a:r>
            <a:endParaRPr lang="en-US" sz="1050" dirty="0"/>
          </a:p>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Retiring VoiceLive API is the side-effect that lets Navigator 2.0 ship cleanly on mobile.</a:t>
            </a:r>
            <a:endParaRPr lang="en-US" sz="1050" dirty="0"/>
          </a:p>
        </p:txBody>
      </p:sp>
      <p:sp>
        <p:nvSpPr>
          <p:cNvPr id="8" name="Shape 6"/>
          <p:cNvSpPr/>
          <p:nvPr/>
        </p:nvSpPr>
        <p:spPr>
          <a:xfrm>
            <a:off x="4663440" y="1325880"/>
            <a:ext cx="4114800" cy="3337560"/>
          </a:xfrm>
          <a:prstGeom prst="roundRect">
            <a:avLst>
              <a:gd name="adj" fmla="val 3288"/>
            </a:avLst>
          </a:prstGeom>
          <a:solidFill>
            <a:srgbClr val="FFF0F0"/>
          </a:solidFill>
          <a:ln w="6350">
            <a:solidFill>
              <a:srgbClr val="D9D9D9"/>
            </a:solidFill>
            <a:prstDash val="solid"/>
          </a:ln>
        </p:spPr>
      </p:sp>
      <p:sp>
        <p:nvSpPr>
          <p:cNvPr id="9" name="Text 7"/>
          <p:cNvSpPr/>
          <p:nvPr/>
        </p:nvSpPr>
        <p:spPr>
          <a:xfrm>
            <a:off x="4846320" y="1508760"/>
            <a:ext cx="3749040" cy="274320"/>
          </a:xfrm>
          <a:prstGeom prst="rect">
            <a:avLst/>
          </a:prstGeom>
          <a:noFill/>
          <a:ln/>
        </p:spPr>
        <p:txBody>
          <a:bodyPr wrap="square" lIns="0" tIns="0" rIns="0" bIns="0" rtlCol="0" anchor="ctr"/>
          <a:lstStyle/>
          <a:p>
            <a:pPr indent="0" marL="0">
              <a:buNone/>
            </a:pPr>
            <a:r>
              <a:rPr lang="en-US" sz="1200" b="1" dirty="0">
                <a:solidFill>
                  <a:srgbClr val="FF475D"/>
                </a:solidFill>
                <a:latin typeface="Epilogue" pitchFamily="34" charset="0"/>
                <a:ea typeface="Epilogue" pitchFamily="34" charset="-122"/>
                <a:cs typeface="Epilogue" pitchFamily="34" charset="-120"/>
              </a:rPr>
              <a:t>KILL  ·  MEM0 USER MEMORY</a:t>
            </a:r>
            <a:endParaRPr lang="en-US" sz="1200" dirty="0"/>
          </a:p>
        </p:txBody>
      </p:sp>
      <p:sp>
        <p:nvSpPr>
          <p:cNvPr id="10" name="Text 8"/>
          <p:cNvSpPr/>
          <p:nvPr/>
        </p:nvSpPr>
        <p:spPr>
          <a:xfrm>
            <a:off x="4846320" y="1801368"/>
            <a:ext cx="3749040" cy="274320"/>
          </a:xfrm>
          <a:prstGeom prst="rect">
            <a:avLst/>
          </a:prstGeom>
          <a:noFill/>
          <a:ln/>
        </p:spPr>
        <p:txBody>
          <a:bodyPr wrap="square" lIns="0" tIns="0" rIns="0" bIns="0" rtlCol="0" anchor="ctr"/>
          <a:lstStyle/>
          <a:p>
            <a:pPr indent="0" marL="0">
              <a:buNone/>
            </a:pPr>
            <a:r>
              <a:rPr lang="en-US" sz="1300" b="1" dirty="0">
                <a:solidFill>
                  <a:srgbClr val="090D48"/>
                </a:solidFill>
                <a:latin typeface="Epilogue" pitchFamily="34" charset="0"/>
                <a:ea typeface="Epilogue" pitchFamily="34" charset="-122"/>
                <a:cs typeface="Epilogue" pitchFamily="34" charset="-120"/>
              </a:rPr>
              <a:t>Hindering answer quality</a:t>
            </a:r>
            <a:endParaRPr lang="en-US" sz="1300" dirty="0"/>
          </a:p>
        </p:txBody>
      </p:sp>
      <p:sp>
        <p:nvSpPr>
          <p:cNvPr id="11" name="Text 9"/>
          <p:cNvSpPr/>
          <p:nvPr/>
        </p:nvSpPr>
        <p:spPr>
          <a:xfrm>
            <a:off x="4846320" y="2167128"/>
            <a:ext cx="3749040" cy="2331720"/>
          </a:xfrm>
          <a:prstGeom prst="rect">
            <a:avLst/>
          </a:prstGeom>
          <a:noFill/>
          <a:ln/>
        </p:spPr>
        <p:txBody>
          <a:bodyPr wrap="square" lIns="0" tIns="0" rIns="0" bIns="0" rtlCol="0" anchor="t"/>
          <a:lstStyle/>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Over-stores per user. Memory bloat drowns out fresh content.</a:t>
            </a:r>
            <a:endParaRPr lang="en-US" sz="1050" dirty="0"/>
          </a:p>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Blocks new content from assistants, pages, and news from surfacing in answers.</a:t>
            </a:r>
            <a:endParaRPr lang="en-US" sz="1050" dirty="0"/>
          </a:p>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No evidence the recall quality is worth the retrieval and cost tax.</a:t>
            </a:r>
            <a:endParaRPr lang="en-US" sz="1050" dirty="0"/>
          </a:p>
          <a:p>
            <a:pPr indent="0" marL="0">
              <a:lnSpc>
                <a:spcPct val="140000"/>
              </a:lnSpc>
              <a:buNone/>
            </a:pPr>
            <a:r>
              <a:rPr lang="en-US" sz="1050" b="1" dirty="0">
                <a:solidFill>
                  <a:srgbClr val="FF475D"/>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Lean on assistant-level context + conversation continuity (Bet 01) instead.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2800" dirty="0">
                <a:solidFill>
                  <a:srgbClr val="090D48"/>
                </a:solidFill>
                <a:latin typeface="Epilogue ExtraBold" pitchFamily="34" charset="0"/>
                <a:ea typeface="Epilogue ExtraBold" pitchFamily="34" charset="-122"/>
                <a:cs typeface="Epilogue ExtraBold" pitchFamily="34" charset="-120"/>
              </a:rPr>
              <a:t>WHAT POWERS IT, WHAT WE DEFER</a:t>
            </a:r>
            <a:endParaRPr lang="en-US" sz="28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100" b="1" dirty="0">
                <a:solidFill>
                  <a:srgbClr val="FF9600"/>
                </a:solidFill>
                <a:latin typeface="Inter" pitchFamily="34" charset="0"/>
                <a:ea typeface="Inter" pitchFamily="34" charset="-122"/>
                <a:cs typeface="Inter" pitchFamily="34" charset="-120"/>
              </a:rPr>
              <a:t>ENABLERS AND ITEMS PUSHED TO Q4+</a:t>
            </a:r>
            <a:endParaRPr lang="en-US" sz="1100" dirty="0"/>
          </a:p>
        </p:txBody>
      </p:sp>
      <p:sp>
        <p:nvSpPr>
          <p:cNvPr id="4" name="Shape 2"/>
          <p:cNvSpPr/>
          <p:nvPr/>
        </p:nvSpPr>
        <p:spPr>
          <a:xfrm>
            <a:off x="365760" y="1325880"/>
            <a:ext cx="4114800" cy="3337560"/>
          </a:xfrm>
          <a:prstGeom prst="roundRect">
            <a:avLst>
              <a:gd name="adj" fmla="val 3288"/>
            </a:avLst>
          </a:prstGeom>
          <a:solidFill>
            <a:srgbClr val="E8F0FF"/>
          </a:solidFill>
          <a:ln w="6350">
            <a:solidFill>
              <a:srgbClr val="D9D9D9"/>
            </a:solidFill>
            <a:prstDash val="solid"/>
          </a:ln>
        </p:spPr>
      </p:sp>
      <p:sp>
        <p:nvSpPr>
          <p:cNvPr id="5" name="Text 3"/>
          <p:cNvSpPr/>
          <p:nvPr/>
        </p:nvSpPr>
        <p:spPr>
          <a:xfrm>
            <a:off x="548640" y="1508760"/>
            <a:ext cx="3749040" cy="274320"/>
          </a:xfrm>
          <a:prstGeom prst="rect">
            <a:avLst/>
          </a:prstGeom>
          <a:noFill/>
          <a:ln/>
        </p:spPr>
        <p:txBody>
          <a:bodyPr wrap="square" lIns="0" tIns="0" rIns="0" bIns="0" rtlCol="0" anchor="ctr"/>
          <a:lstStyle/>
          <a:p>
            <a:pPr indent="0" marL="0">
              <a:buNone/>
            </a:pPr>
            <a:r>
              <a:rPr lang="en-US" sz="1200" b="1" dirty="0">
                <a:solidFill>
                  <a:srgbClr val="006CFF"/>
                </a:solidFill>
                <a:latin typeface="Epilogue" pitchFamily="34" charset="0"/>
                <a:ea typeface="Epilogue" pitchFamily="34" charset="-122"/>
                <a:cs typeface="Epilogue" pitchFamily="34" charset="-120"/>
              </a:rPr>
              <a:t>TECHNICAL INVESTMENTS</a:t>
            </a:r>
            <a:endParaRPr lang="en-US" sz="1200" dirty="0"/>
          </a:p>
        </p:txBody>
      </p:sp>
      <p:sp>
        <p:nvSpPr>
          <p:cNvPr id="6" name="Text 4"/>
          <p:cNvSpPr/>
          <p:nvPr/>
        </p:nvSpPr>
        <p:spPr>
          <a:xfrm>
            <a:off x="548640" y="1801368"/>
            <a:ext cx="3749040" cy="256032"/>
          </a:xfrm>
          <a:prstGeom prst="rect">
            <a:avLst/>
          </a:prstGeom>
          <a:noFill/>
          <a:ln/>
        </p:spPr>
        <p:txBody>
          <a:bodyPr wrap="square" lIns="0" tIns="0" rIns="0" bIns="0" rtlCol="0" anchor="ctr"/>
          <a:lstStyle/>
          <a:p>
            <a:pPr indent="0" marL="0">
              <a:buNone/>
            </a:pPr>
            <a:r>
              <a:rPr lang="en-US" sz="900" b="1" dirty="0">
                <a:solidFill>
                  <a:srgbClr val="090D48"/>
                </a:solidFill>
                <a:latin typeface="Inter" pitchFamily="34" charset="0"/>
                <a:ea typeface="Inter" pitchFamily="34" charset="-122"/>
                <a:cs typeface="Inter" pitchFamily="34" charset="-120"/>
              </a:rPr>
              <a:t>REQUIRED TO UNLOCK THE 7 BETS</a:t>
            </a:r>
            <a:endParaRPr lang="en-US" sz="900" dirty="0"/>
          </a:p>
        </p:txBody>
      </p:sp>
      <p:sp>
        <p:nvSpPr>
          <p:cNvPr id="7" name="Text 5"/>
          <p:cNvSpPr/>
          <p:nvPr/>
        </p:nvSpPr>
        <p:spPr>
          <a:xfrm>
            <a:off x="548640" y="2130552"/>
            <a:ext cx="3749040" cy="2331720"/>
          </a:xfrm>
          <a:prstGeom prst="rect">
            <a:avLst/>
          </a:prstGeom>
          <a:noFill/>
          <a:ln/>
        </p:spPr>
        <p:txBody>
          <a:bodyPr wrap="square" lIns="0" tIns="0" rIns="0" bIns="0" rtlCol="0" anchor="t"/>
          <a:lstStyle/>
          <a:p>
            <a:pPr indent="0" marL="0">
              <a:lnSpc>
                <a:spcPct val="140000"/>
              </a:lnSpc>
              <a:buNone/>
            </a:pPr>
            <a:r>
              <a:rPr lang="en-US" sz="1050" b="1" dirty="0">
                <a:solidFill>
                  <a:srgbClr val="006CFF"/>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Move from VoiceLive API to a transport that supports push-to-talk and fixes the mobile source-click bug</a:t>
            </a:r>
            <a:endParaRPr lang="en-US" sz="1050" dirty="0"/>
          </a:p>
          <a:p>
            <a:pPr indent="0" marL="0">
              <a:lnSpc>
                <a:spcPct val="140000"/>
              </a:lnSpc>
              <a:buNone/>
            </a:pPr>
            <a:r>
              <a:rPr lang="en-US" sz="1050" b="1" dirty="0">
                <a:solidFill>
                  <a:srgbClr val="006CFF"/>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Fast, reproducible local dev environments for PM and Design: prototype-first culture</a:t>
            </a:r>
            <a:endParaRPr lang="en-US" sz="1050" dirty="0"/>
          </a:p>
          <a:p>
            <a:pPr indent="0" marL="0">
              <a:lnSpc>
                <a:spcPct val="140000"/>
              </a:lnSpc>
              <a:buNone/>
            </a:pPr>
            <a:r>
              <a:rPr lang="en-US" sz="1050" b="1" dirty="0">
                <a:solidFill>
                  <a:srgbClr val="006CFF"/>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Hybrid retrieval via MORI Phase 3, joint commitment with the Search team</a:t>
            </a:r>
            <a:endParaRPr lang="en-US" sz="1050" dirty="0"/>
          </a:p>
          <a:p>
            <a:pPr indent="0" marL="0">
              <a:lnSpc>
                <a:spcPct val="140000"/>
              </a:lnSpc>
              <a:buNone/>
            </a:pPr>
            <a:r>
              <a:rPr lang="en-US" sz="1050" b="1" dirty="0">
                <a:solidFill>
                  <a:srgbClr val="006CFF"/>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Identity &amp; delegation layer for MCP: OAuth passthrough, no service accounts</a:t>
            </a:r>
            <a:endParaRPr lang="en-US" sz="1050" dirty="0"/>
          </a:p>
          <a:p>
            <a:pPr indent="0" marL="0">
              <a:lnSpc>
                <a:spcPct val="140000"/>
              </a:lnSpc>
              <a:buNone/>
            </a:pPr>
            <a:r>
              <a:rPr lang="en-US" sz="1050" b="1" dirty="0">
                <a:solidFill>
                  <a:srgbClr val="006CFF"/>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GPT-5-mini cutover when ready (Azure-only constraint)</a:t>
            </a:r>
            <a:endParaRPr lang="en-US" sz="1050" dirty="0"/>
          </a:p>
        </p:txBody>
      </p:sp>
      <p:sp>
        <p:nvSpPr>
          <p:cNvPr id="8" name="Shape 6"/>
          <p:cNvSpPr/>
          <p:nvPr/>
        </p:nvSpPr>
        <p:spPr>
          <a:xfrm>
            <a:off x="4663440" y="1325880"/>
            <a:ext cx="4114800" cy="3337560"/>
          </a:xfrm>
          <a:prstGeom prst="roundRect">
            <a:avLst>
              <a:gd name="adj" fmla="val 3288"/>
            </a:avLst>
          </a:prstGeom>
          <a:solidFill>
            <a:srgbClr val="FFF5E8"/>
          </a:solidFill>
          <a:ln w="6350">
            <a:solidFill>
              <a:srgbClr val="D9D9D9"/>
            </a:solidFill>
            <a:prstDash val="solid"/>
          </a:ln>
        </p:spPr>
      </p:sp>
      <p:sp>
        <p:nvSpPr>
          <p:cNvPr id="9" name="Text 7"/>
          <p:cNvSpPr/>
          <p:nvPr/>
        </p:nvSpPr>
        <p:spPr>
          <a:xfrm>
            <a:off x="4846320" y="1508760"/>
            <a:ext cx="3749040" cy="274320"/>
          </a:xfrm>
          <a:prstGeom prst="rect">
            <a:avLst/>
          </a:prstGeom>
          <a:noFill/>
          <a:ln/>
        </p:spPr>
        <p:txBody>
          <a:bodyPr wrap="square" lIns="0" tIns="0" rIns="0" bIns="0" rtlCol="0" anchor="ctr"/>
          <a:lstStyle/>
          <a:p>
            <a:pPr indent="0" marL="0">
              <a:buNone/>
            </a:pPr>
            <a:r>
              <a:rPr lang="en-US" sz="1200" b="1" dirty="0">
                <a:solidFill>
                  <a:srgbClr val="FF9600"/>
                </a:solidFill>
                <a:latin typeface="Epilogue" pitchFamily="34" charset="0"/>
                <a:ea typeface="Epilogue" pitchFamily="34" charset="-122"/>
                <a:cs typeface="Epilogue" pitchFamily="34" charset="-120"/>
              </a:rPr>
              <a:t>DEFERRED TO Q4+</a:t>
            </a:r>
            <a:endParaRPr lang="en-US" sz="1200" dirty="0"/>
          </a:p>
        </p:txBody>
      </p:sp>
      <p:sp>
        <p:nvSpPr>
          <p:cNvPr id="10" name="Text 8"/>
          <p:cNvSpPr/>
          <p:nvPr/>
        </p:nvSpPr>
        <p:spPr>
          <a:xfrm>
            <a:off x="4846320" y="1801368"/>
            <a:ext cx="3749040" cy="256032"/>
          </a:xfrm>
          <a:prstGeom prst="rect">
            <a:avLst/>
          </a:prstGeom>
          <a:noFill/>
          <a:ln/>
        </p:spPr>
        <p:txBody>
          <a:bodyPr wrap="square" lIns="0" tIns="0" rIns="0" bIns="0" rtlCol="0" anchor="ctr"/>
          <a:lstStyle/>
          <a:p>
            <a:pPr indent="0" marL="0">
              <a:buNone/>
            </a:pPr>
            <a:r>
              <a:rPr lang="en-US" sz="900" b="1" dirty="0">
                <a:solidFill>
                  <a:srgbClr val="090D48"/>
                </a:solidFill>
                <a:latin typeface="Inter" pitchFamily="34" charset="0"/>
                <a:ea typeface="Inter" pitchFamily="34" charset="-122"/>
                <a:cs typeface="Inter" pitchFamily="34" charset="-120"/>
              </a:rPr>
              <a:t>NICE-TO-HAVES THAT WAIT THEIR TURN</a:t>
            </a:r>
            <a:endParaRPr lang="en-US" sz="900" dirty="0"/>
          </a:p>
        </p:txBody>
      </p:sp>
      <p:sp>
        <p:nvSpPr>
          <p:cNvPr id="11" name="Text 9"/>
          <p:cNvSpPr/>
          <p:nvPr/>
        </p:nvSpPr>
        <p:spPr>
          <a:xfrm>
            <a:off x="4846320" y="2130552"/>
            <a:ext cx="3749040" cy="2331720"/>
          </a:xfrm>
          <a:prstGeom prst="rect">
            <a:avLst/>
          </a:prstGeom>
          <a:noFill/>
          <a:ln/>
        </p:spPr>
        <p:txBody>
          <a:bodyPr wrap="square" lIns="0" tIns="0" rIns="0" bIns="0" rtlCol="0" anchor="t"/>
          <a:lstStyle/>
          <a:p>
            <a:pPr indent="0" marL="0">
              <a:lnSpc>
                <a:spcPct val="140000"/>
              </a:lnSpc>
              <a:buNone/>
            </a:pPr>
            <a:r>
              <a:rPr lang="en-US" sz="1050" b="1" dirty="0">
                <a:solidFill>
                  <a:srgbClr val="FF9600"/>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Simulations as a specific user group: powerful for QA, defer to Q4</a:t>
            </a:r>
            <a:endParaRPr lang="en-US" sz="1050" dirty="0"/>
          </a:p>
          <a:p>
            <a:pPr indent="0" marL="0">
              <a:lnSpc>
                <a:spcPct val="140000"/>
              </a:lnSpc>
              <a:buNone/>
            </a:pPr>
            <a:r>
              <a:rPr lang="en-US" sz="1050" b="1" dirty="0">
                <a:solidFill>
                  <a:srgbClr val="FF9600"/>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Navigator Push notifications: defer until Actions framework exists</a:t>
            </a:r>
            <a:endParaRPr lang="en-US" sz="1050" dirty="0"/>
          </a:p>
          <a:p>
            <a:pPr indent="0" marL="0">
              <a:lnSpc>
                <a:spcPct val="140000"/>
              </a:lnSpc>
              <a:buNone/>
            </a:pPr>
            <a:r>
              <a:rPr lang="en-US" sz="1050" b="1" dirty="0">
                <a:solidFill>
                  <a:srgbClr val="FF9600"/>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Dedicated Cowork-style Desktop UI: defer; mobile + web cover 95% of MAU</a:t>
            </a:r>
            <a:endParaRPr lang="en-US" sz="1050" dirty="0"/>
          </a:p>
          <a:p>
            <a:pPr indent="0" marL="0">
              <a:lnSpc>
                <a:spcPct val="140000"/>
              </a:lnSpc>
              <a:buNone/>
            </a:pPr>
            <a:r>
              <a:rPr lang="en-US" sz="1050" b="1" dirty="0">
                <a:solidFill>
                  <a:srgbClr val="FF9600"/>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Agent marketplace: defer until MCP ecosystem is mature</a:t>
            </a:r>
            <a:endParaRPr lang="en-US" sz="1050" dirty="0"/>
          </a:p>
          <a:p>
            <a:pPr indent="0" marL="0">
              <a:lnSpc>
                <a:spcPct val="140000"/>
              </a:lnSpc>
              <a:buNone/>
            </a:pPr>
            <a:r>
              <a:rPr lang="en-US" sz="1050" b="1" dirty="0">
                <a:solidFill>
                  <a:srgbClr val="FF9600"/>
                </a:solidFill>
                <a:latin typeface="Inter" pitchFamily="34" charset="0"/>
                <a:ea typeface="Inter" pitchFamily="34" charset="-122"/>
                <a:cs typeface="Inter" pitchFamily="34" charset="-120"/>
              </a:rPr>
              <a:t>→  </a:t>
            </a:r>
            <a:pPr indent="0" marL="0">
              <a:lnSpc>
                <a:spcPct val="140000"/>
              </a:lnSpc>
              <a:buNone/>
            </a:pPr>
            <a:r>
              <a:rPr lang="en-US" sz="1050" dirty="0">
                <a:solidFill>
                  <a:srgbClr val="090D48"/>
                </a:solidFill>
                <a:latin typeface="Inter" pitchFamily="34" charset="0"/>
                <a:ea typeface="Inter" pitchFamily="34" charset="-122"/>
                <a:cs typeface="Inter" pitchFamily="34" charset="-120"/>
              </a:rPr>
              <a:t>Intent-based routing: needs production data baseline first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365760" y="457200"/>
            <a:ext cx="8412480" cy="502920"/>
          </a:xfrm>
          <a:prstGeom prst="rect">
            <a:avLst/>
          </a:prstGeom>
          <a:noFill/>
          <a:ln/>
        </p:spPr>
        <p:txBody>
          <a:bodyPr wrap="square" lIns="0" tIns="0" rIns="0" bIns="0" rtlCol="0" anchor="ctr"/>
          <a:lstStyle/>
          <a:p>
            <a:pPr indent="0" marL="0">
              <a:buNone/>
            </a:pPr>
            <a:r>
              <a:rPr lang="en-US" sz="3000" dirty="0">
                <a:solidFill>
                  <a:srgbClr val="090D48"/>
                </a:solidFill>
                <a:latin typeface="Epilogue ExtraBold" pitchFamily="34" charset="0"/>
                <a:ea typeface="Epilogue ExtraBold" pitchFamily="34" charset="-122"/>
                <a:cs typeface="Epilogue ExtraBold" pitchFamily="34" charset="-120"/>
              </a:rPr>
              <a:t>DECISIONS FROM TODAY</a:t>
            </a:r>
            <a:endParaRPr lang="en-US" sz="3000" dirty="0"/>
          </a:p>
        </p:txBody>
      </p:sp>
      <p:sp>
        <p:nvSpPr>
          <p:cNvPr id="3" name="Text 1"/>
          <p:cNvSpPr/>
          <p:nvPr/>
        </p:nvSpPr>
        <p:spPr>
          <a:xfrm>
            <a:off x="365760" y="960120"/>
            <a:ext cx="8412480" cy="201168"/>
          </a:xfrm>
          <a:prstGeom prst="rect">
            <a:avLst/>
          </a:prstGeom>
          <a:noFill/>
          <a:ln/>
        </p:spPr>
        <p:txBody>
          <a:bodyPr wrap="square" lIns="0" tIns="0" rIns="0" bIns="0" rtlCol="0" anchor="ctr"/>
          <a:lstStyle/>
          <a:p>
            <a:pPr indent="0" marL="0">
              <a:buNone/>
            </a:pPr>
            <a:r>
              <a:rPr lang="en-US" sz="1100" b="1" dirty="0">
                <a:solidFill>
                  <a:srgbClr val="FF9600"/>
                </a:solidFill>
                <a:latin typeface="Inter" pitchFamily="34" charset="0"/>
                <a:ea typeface="Inter" pitchFamily="34" charset="-122"/>
                <a:cs typeface="Inter" pitchFamily="34" charset="-120"/>
              </a:rPr>
              <a:t>WHAT I NEED FROM YOU IN THIS ROOM</a:t>
            </a:r>
            <a:endParaRPr lang="en-US" sz="1100" dirty="0"/>
          </a:p>
        </p:txBody>
      </p:sp>
      <p:sp>
        <p:nvSpPr>
          <p:cNvPr id="4" name="Shape 2"/>
          <p:cNvSpPr/>
          <p:nvPr/>
        </p:nvSpPr>
        <p:spPr>
          <a:xfrm>
            <a:off x="365760" y="1325880"/>
            <a:ext cx="8412480" cy="752094"/>
          </a:xfrm>
          <a:prstGeom prst="roundRect">
            <a:avLst>
              <a:gd name="adj" fmla="val 12158"/>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5" name="Text 3"/>
          <p:cNvSpPr/>
          <p:nvPr/>
        </p:nvSpPr>
        <p:spPr>
          <a:xfrm>
            <a:off x="530352" y="1399032"/>
            <a:ext cx="640080" cy="605790"/>
          </a:xfrm>
          <a:prstGeom prst="rect">
            <a:avLst/>
          </a:prstGeom>
          <a:noFill/>
          <a:ln/>
        </p:spPr>
        <p:txBody>
          <a:bodyPr wrap="square" lIns="0" tIns="0" rIns="0" bIns="0" rtlCol="0" anchor="ctr"/>
          <a:lstStyle/>
          <a:p>
            <a:pPr algn="l" indent="0" marL="0">
              <a:buNone/>
            </a:pPr>
            <a:r>
              <a:rPr lang="en-US" sz="2200" dirty="0">
                <a:solidFill>
                  <a:srgbClr val="006CFF"/>
                </a:solidFill>
                <a:latin typeface="Epilogue ExtraBold" pitchFamily="34" charset="0"/>
                <a:ea typeface="Epilogue ExtraBold" pitchFamily="34" charset="-122"/>
                <a:cs typeface="Epilogue ExtraBold" pitchFamily="34" charset="-120"/>
              </a:rPr>
              <a:t>A</a:t>
            </a:r>
            <a:endParaRPr lang="en-US" sz="2200" dirty="0"/>
          </a:p>
        </p:txBody>
      </p:sp>
      <p:sp>
        <p:nvSpPr>
          <p:cNvPr id="6" name="Text 4"/>
          <p:cNvSpPr/>
          <p:nvPr/>
        </p:nvSpPr>
        <p:spPr>
          <a:xfrm>
            <a:off x="1234440" y="1417320"/>
            <a:ext cx="5897880" cy="256032"/>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APPROVE THE SHIFT FROM 4 BETS TO 7</a:t>
            </a:r>
            <a:endParaRPr lang="en-US" sz="1100" dirty="0"/>
          </a:p>
        </p:txBody>
      </p:sp>
      <p:sp>
        <p:nvSpPr>
          <p:cNvPr id="7" name="Text 5"/>
          <p:cNvSpPr/>
          <p:nvPr/>
        </p:nvSpPr>
        <p:spPr>
          <a:xfrm>
            <a:off x="1234440" y="1691640"/>
            <a:ext cx="5897880" cy="276606"/>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Four net-new strategic pillars: Navigator Concierge, MCP + A2A Orchestration, Staffbase MCP, Search ⇄ Navigator. Same headcount, sharper outcomes.</a:t>
            </a:r>
            <a:endParaRPr lang="en-US" sz="950" dirty="0"/>
          </a:p>
        </p:txBody>
      </p:sp>
      <p:sp>
        <p:nvSpPr>
          <p:cNvPr id="8" name="Shape 6"/>
          <p:cNvSpPr/>
          <p:nvPr/>
        </p:nvSpPr>
        <p:spPr>
          <a:xfrm>
            <a:off x="7333488" y="1564767"/>
            <a:ext cx="1280160" cy="274320"/>
          </a:xfrm>
          <a:prstGeom prst="roundRect">
            <a:avLst>
              <a:gd name="adj" fmla="val 33333"/>
            </a:avLst>
          </a:prstGeom>
          <a:solidFill>
            <a:srgbClr val="006CFF"/>
          </a:solidFill>
          <a:ln w="12700">
            <a:solidFill>
              <a:srgbClr val="006CFF"/>
            </a:solidFill>
            <a:prstDash val="solid"/>
          </a:ln>
        </p:spPr>
      </p:sp>
      <p:sp>
        <p:nvSpPr>
          <p:cNvPr id="9" name="Text 7"/>
          <p:cNvSpPr/>
          <p:nvPr/>
        </p:nvSpPr>
        <p:spPr>
          <a:xfrm>
            <a:off x="7333488" y="1564767"/>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DECISION</a:t>
            </a:r>
            <a:endParaRPr lang="en-US" sz="850" dirty="0"/>
          </a:p>
        </p:txBody>
      </p:sp>
      <p:sp>
        <p:nvSpPr>
          <p:cNvPr id="10" name="Shape 8"/>
          <p:cNvSpPr/>
          <p:nvPr/>
        </p:nvSpPr>
        <p:spPr>
          <a:xfrm>
            <a:off x="365760" y="2187702"/>
            <a:ext cx="8412480" cy="752094"/>
          </a:xfrm>
          <a:prstGeom prst="roundRect">
            <a:avLst>
              <a:gd name="adj" fmla="val 12158"/>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11" name="Text 9"/>
          <p:cNvSpPr/>
          <p:nvPr/>
        </p:nvSpPr>
        <p:spPr>
          <a:xfrm>
            <a:off x="530352" y="2260854"/>
            <a:ext cx="640080" cy="605790"/>
          </a:xfrm>
          <a:prstGeom prst="rect">
            <a:avLst/>
          </a:prstGeom>
          <a:noFill/>
          <a:ln/>
        </p:spPr>
        <p:txBody>
          <a:bodyPr wrap="square" lIns="0" tIns="0" rIns="0" bIns="0" rtlCol="0" anchor="ctr"/>
          <a:lstStyle/>
          <a:p>
            <a:pPr algn="l" indent="0" marL="0">
              <a:buNone/>
            </a:pPr>
            <a:r>
              <a:rPr lang="en-US" sz="2200" dirty="0">
                <a:solidFill>
                  <a:srgbClr val="FF9600"/>
                </a:solidFill>
                <a:latin typeface="Epilogue ExtraBold" pitchFamily="34" charset="0"/>
                <a:ea typeface="Epilogue ExtraBold" pitchFamily="34" charset="-122"/>
                <a:cs typeface="Epilogue ExtraBold" pitchFamily="34" charset="-120"/>
              </a:rPr>
              <a:t>B</a:t>
            </a:r>
            <a:endParaRPr lang="en-US" sz="2200" dirty="0"/>
          </a:p>
        </p:txBody>
      </p:sp>
      <p:sp>
        <p:nvSpPr>
          <p:cNvPr id="12" name="Text 10"/>
          <p:cNvSpPr/>
          <p:nvPr/>
        </p:nvSpPr>
        <p:spPr>
          <a:xfrm>
            <a:off x="1234440" y="2279142"/>
            <a:ext cx="5897880" cy="256032"/>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GREEN-LIGHT THE STAFFBASE MCP FLYWHEEL</a:t>
            </a:r>
            <a:endParaRPr lang="en-US" sz="1100" dirty="0"/>
          </a:p>
        </p:txBody>
      </p:sp>
      <p:sp>
        <p:nvSpPr>
          <p:cNvPr id="13" name="Text 11"/>
          <p:cNvSpPr/>
          <p:nvPr/>
        </p:nvSpPr>
        <p:spPr>
          <a:xfrm>
            <a:off x="1234440" y="2553462"/>
            <a:ext cx="5897880" cy="276606"/>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Commit Tilo &amp; Martin's work as a Navigator dependency. This is the bet that turns the 6M intranet TAM into addressable AI MAU.</a:t>
            </a:r>
            <a:endParaRPr lang="en-US" sz="950" dirty="0"/>
          </a:p>
        </p:txBody>
      </p:sp>
      <p:sp>
        <p:nvSpPr>
          <p:cNvPr id="14" name="Shape 12"/>
          <p:cNvSpPr/>
          <p:nvPr/>
        </p:nvSpPr>
        <p:spPr>
          <a:xfrm>
            <a:off x="7333488" y="2426589"/>
            <a:ext cx="1280160" cy="274320"/>
          </a:xfrm>
          <a:prstGeom prst="roundRect">
            <a:avLst>
              <a:gd name="adj" fmla="val 33333"/>
            </a:avLst>
          </a:prstGeom>
          <a:solidFill>
            <a:srgbClr val="FF9600"/>
          </a:solidFill>
          <a:ln w="12700">
            <a:solidFill>
              <a:srgbClr val="FF9600"/>
            </a:solidFill>
            <a:prstDash val="solid"/>
          </a:ln>
        </p:spPr>
      </p:sp>
      <p:sp>
        <p:nvSpPr>
          <p:cNvPr id="15" name="Text 13"/>
          <p:cNvSpPr/>
          <p:nvPr/>
        </p:nvSpPr>
        <p:spPr>
          <a:xfrm>
            <a:off x="7333488" y="2426589"/>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ALIGNMENT</a:t>
            </a:r>
            <a:endParaRPr lang="en-US" sz="850" dirty="0"/>
          </a:p>
        </p:txBody>
      </p:sp>
      <p:sp>
        <p:nvSpPr>
          <p:cNvPr id="16" name="Shape 14"/>
          <p:cNvSpPr/>
          <p:nvPr/>
        </p:nvSpPr>
        <p:spPr>
          <a:xfrm>
            <a:off x="365760" y="3049524"/>
            <a:ext cx="8412480" cy="752094"/>
          </a:xfrm>
          <a:prstGeom prst="roundRect">
            <a:avLst>
              <a:gd name="adj" fmla="val 12158"/>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17" name="Text 15"/>
          <p:cNvSpPr/>
          <p:nvPr/>
        </p:nvSpPr>
        <p:spPr>
          <a:xfrm>
            <a:off x="530352" y="3122676"/>
            <a:ext cx="640080" cy="605790"/>
          </a:xfrm>
          <a:prstGeom prst="rect">
            <a:avLst/>
          </a:prstGeom>
          <a:noFill/>
          <a:ln/>
        </p:spPr>
        <p:txBody>
          <a:bodyPr wrap="square" lIns="0" tIns="0" rIns="0" bIns="0" rtlCol="0" anchor="ctr"/>
          <a:lstStyle/>
          <a:p>
            <a:pPr algn="l" indent="0" marL="0">
              <a:buNone/>
            </a:pPr>
            <a:r>
              <a:rPr lang="en-US" sz="2200" dirty="0">
                <a:solidFill>
                  <a:srgbClr val="7A47D1"/>
                </a:solidFill>
                <a:latin typeface="Epilogue ExtraBold" pitchFamily="34" charset="0"/>
                <a:ea typeface="Epilogue ExtraBold" pitchFamily="34" charset="-122"/>
                <a:cs typeface="Epilogue ExtraBold" pitchFamily="34" charset="-120"/>
              </a:rPr>
              <a:t>C</a:t>
            </a:r>
            <a:endParaRPr lang="en-US" sz="2200" dirty="0"/>
          </a:p>
        </p:txBody>
      </p:sp>
      <p:sp>
        <p:nvSpPr>
          <p:cNvPr id="18" name="Text 16"/>
          <p:cNvSpPr/>
          <p:nvPr/>
        </p:nvSpPr>
        <p:spPr>
          <a:xfrm>
            <a:off x="1234440" y="3140964"/>
            <a:ext cx="5897880" cy="256032"/>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BLESS THE SEARCH UNIFICATION TRACK</a:t>
            </a:r>
            <a:endParaRPr lang="en-US" sz="1100" dirty="0"/>
          </a:p>
        </p:txBody>
      </p:sp>
      <p:sp>
        <p:nvSpPr>
          <p:cNvPr id="19" name="Text 17"/>
          <p:cNvSpPr/>
          <p:nvPr/>
        </p:nvSpPr>
        <p:spPr>
          <a:xfrm>
            <a:off x="1234440" y="3415284"/>
            <a:ext cx="5897880" cy="276606"/>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Sync with Search team leadership to merge models, data sources, summaries. Largest single MAU lever on the table.</a:t>
            </a:r>
            <a:endParaRPr lang="en-US" sz="950" dirty="0"/>
          </a:p>
        </p:txBody>
      </p:sp>
      <p:sp>
        <p:nvSpPr>
          <p:cNvPr id="20" name="Shape 18"/>
          <p:cNvSpPr/>
          <p:nvPr/>
        </p:nvSpPr>
        <p:spPr>
          <a:xfrm>
            <a:off x="7333488" y="3288411"/>
            <a:ext cx="1280160" cy="274320"/>
          </a:xfrm>
          <a:prstGeom prst="roundRect">
            <a:avLst>
              <a:gd name="adj" fmla="val 33333"/>
            </a:avLst>
          </a:prstGeom>
          <a:solidFill>
            <a:srgbClr val="7A47D1"/>
          </a:solidFill>
          <a:ln w="12700">
            <a:solidFill>
              <a:srgbClr val="7A47D1"/>
            </a:solidFill>
            <a:prstDash val="solid"/>
          </a:ln>
        </p:spPr>
      </p:sp>
      <p:sp>
        <p:nvSpPr>
          <p:cNvPr id="21" name="Text 19"/>
          <p:cNvSpPr/>
          <p:nvPr/>
        </p:nvSpPr>
        <p:spPr>
          <a:xfrm>
            <a:off x="7333488" y="3288411"/>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SPONSOR</a:t>
            </a:r>
            <a:endParaRPr lang="en-US" sz="850" dirty="0"/>
          </a:p>
        </p:txBody>
      </p:sp>
      <p:sp>
        <p:nvSpPr>
          <p:cNvPr id="22" name="Shape 20"/>
          <p:cNvSpPr/>
          <p:nvPr/>
        </p:nvSpPr>
        <p:spPr>
          <a:xfrm>
            <a:off x="365760" y="3911346"/>
            <a:ext cx="8412480" cy="752094"/>
          </a:xfrm>
          <a:prstGeom prst="roundRect">
            <a:avLst>
              <a:gd name="adj" fmla="val 12158"/>
            </a:avLst>
          </a:prstGeom>
          <a:solidFill>
            <a:srgbClr val="FFFFFF"/>
          </a:solidFill>
          <a:ln w="12700">
            <a:solidFill>
              <a:srgbClr val="F3F3F3"/>
            </a:solidFill>
            <a:prstDash val="solid"/>
          </a:ln>
          <a:effectLst>
            <a:outerShdw sx="100000" sy="100000" kx="0" ky="0" algn="bl" rotWithShape="0" blurRad="38100" dist="25400" dir="8100000">
              <a:srgbClr val="000000">
                <a:alpha val="7000"/>
              </a:srgbClr>
            </a:outerShdw>
          </a:effectLst>
        </p:spPr>
      </p:sp>
      <p:sp>
        <p:nvSpPr>
          <p:cNvPr id="23" name="Text 21"/>
          <p:cNvSpPr/>
          <p:nvPr/>
        </p:nvSpPr>
        <p:spPr>
          <a:xfrm>
            <a:off x="530352" y="3984498"/>
            <a:ext cx="640080" cy="605790"/>
          </a:xfrm>
          <a:prstGeom prst="rect">
            <a:avLst/>
          </a:prstGeom>
          <a:noFill/>
          <a:ln/>
        </p:spPr>
        <p:txBody>
          <a:bodyPr wrap="square" lIns="0" tIns="0" rIns="0" bIns="0" rtlCol="0" anchor="ctr"/>
          <a:lstStyle/>
          <a:p>
            <a:pPr algn="l" indent="0" marL="0">
              <a:buNone/>
            </a:pPr>
            <a:r>
              <a:rPr lang="en-US" sz="2200" dirty="0">
                <a:solidFill>
                  <a:srgbClr val="FF475D"/>
                </a:solidFill>
                <a:latin typeface="Epilogue ExtraBold" pitchFamily="34" charset="0"/>
                <a:ea typeface="Epilogue ExtraBold" pitchFamily="34" charset="-122"/>
                <a:cs typeface="Epilogue ExtraBold" pitchFamily="34" charset="-120"/>
              </a:rPr>
              <a:t>D</a:t>
            </a:r>
            <a:endParaRPr lang="en-US" sz="2200" dirty="0"/>
          </a:p>
        </p:txBody>
      </p:sp>
      <p:sp>
        <p:nvSpPr>
          <p:cNvPr id="24" name="Text 22"/>
          <p:cNvSpPr/>
          <p:nvPr/>
        </p:nvSpPr>
        <p:spPr>
          <a:xfrm>
            <a:off x="1234440" y="4002786"/>
            <a:ext cx="5897880" cy="256032"/>
          </a:xfrm>
          <a:prstGeom prst="rect">
            <a:avLst/>
          </a:prstGeom>
          <a:noFill/>
          <a:ln/>
        </p:spPr>
        <p:txBody>
          <a:bodyPr wrap="square" lIns="0" tIns="0" rIns="0" bIns="0" rtlCol="0" anchor="ctr"/>
          <a:lstStyle/>
          <a:p>
            <a:pPr indent="0" marL="0">
              <a:buNone/>
            </a:pPr>
            <a:r>
              <a:rPr lang="en-US" sz="1100" b="1" dirty="0">
                <a:solidFill>
                  <a:srgbClr val="090D48"/>
                </a:solidFill>
                <a:latin typeface="Epilogue" pitchFamily="34" charset="0"/>
                <a:ea typeface="Epilogue" pitchFamily="34" charset="-122"/>
                <a:cs typeface="Epilogue" pitchFamily="34" charset="-120"/>
              </a:rPr>
              <a:t>BACK THE TWO KILLS</a:t>
            </a:r>
            <a:endParaRPr lang="en-US" sz="1100" dirty="0"/>
          </a:p>
        </p:txBody>
      </p:sp>
      <p:sp>
        <p:nvSpPr>
          <p:cNvPr id="25" name="Text 23"/>
          <p:cNvSpPr/>
          <p:nvPr/>
        </p:nvSpPr>
        <p:spPr>
          <a:xfrm>
            <a:off x="1234440" y="4277106"/>
            <a:ext cx="5897880" cy="276606"/>
          </a:xfrm>
          <a:prstGeom prst="rect">
            <a:avLst/>
          </a:prstGeom>
          <a:noFill/>
          <a:ln/>
        </p:spPr>
        <p:txBody>
          <a:bodyPr wrap="square" lIns="0" tIns="0" rIns="0" bIns="0" rtlCol="0" anchor="t"/>
          <a:lstStyle/>
          <a:p>
            <a:pPr indent="0" marL="0">
              <a:lnSpc>
                <a:spcPct val="135000"/>
              </a:lnSpc>
              <a:buNone/>
            </a:pPr>
            <a:r>
              <a:rPr lang="en-US" sz="950" dirty="0">
                <a:solidFill>
                  <a:srgbClr val="090D48"/>
                </a:solidFill>
                <a:latin typeface="Inter" pitchFamily="34" charset="0"/>
                <a:ea typeface="Inter" pitchFamily="34" charset="-122"/>
                <a:cs typeface="Inter" pitchFamily="34" charset="-120"/>
              </a:rPr>
              <a:t>Live voice experience and mem0 user memory: gone now, not deferred. Plus Q4+ pushouts: simulations, push, desktop UX, marketplace.</a:t>
            </a:r>
            <a:endParaRPr lang="en-US" sz="950" dirty="0"/>
          </a:p>
        </p:txBody>
      </p:sp>
      <p:sp>
        <p:nvSpPr>
          <p:cNvPr id="26" name="Shape 24"/>
          <p:cNvSpPr/>
          <p:nvPr/>
        </p:nvSpPr>
        <p:spPr>
          <a:xfrm>
            <a:off x="7333488" y="4150233"/>
            <a:ext cx="1280160" cy="274320"/>
          </a:xfrm>
          <a:prstGeom prst="roundRect">
            <a:avLst>
              <a:gd name="adj" fmla="val 33333"/>
            </a:avLst>
          </a:prstGeom>
          <a:solidFill>
            <a:srgbClr val="FF475D"/>
          </a:solidFill>
          <a:ln w="12700">
            <a:solidFill>
              <a:srgbClr val="FF475D"/>
            </a:solidFill>
            <a:prstDash val="solid"/>
          </a:ln>
        </p:spPr>
      </p:sp>
      <p:sp>
        <p:nvSpPr>
          <p:cNvPr id="27" name="Text 25"/>
          <p:cNvSpPr/>
          <p:nvPr/>
        </p:nvSpPr>
        <p:spPr>
          <a:xfrm>
            <a:off x="7333488" y="4150233"/>
            <a:ext cx="128016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SUPPORT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3F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65760" y="228600"/>
            <a:ext cx="1234440" cy="256032"/>
          </a:xfrm>
          <a:prstGeom prst="rect">
            <a:avLst/>
          </a:prstGeom>
        </p:spPr>
      </p:pic>
      <p:pic>
        <p:nvPicPr>
          <p:cNvPr id="3" name="Image 1" descr="preencoded.png">    </p:cNvPr>
          <p:cNvPicPr>
            <a:picLocks noChangeAspect="1"/>
          </p:cNvPicPr>
          <p:nvPr/>
        </p:nvPicPr>
        <p:blipFill>
          <a:blip r:embed="rId2"/>
          <a:stretch>
            <a:fillRect/>
          </a:stretch>
        </p:blipFill>
        <p:spPr>
          <a:xfrm>
            <a:off x="-914400" y="2743200"/>
            <a:ext cx="4114800" cy="3200400"/>
          </a:xfrm>
          <a:prstGeom prst="rect">
            <a:avLst/>
          </a:prstGeom>
        </p:spPr>
      </p:pic>
      <p:sp>
        <p:nvSpPr>
          <p:cNvPr id="4" name="Text 0"/>
          <p:cNvSpPr/>
          <p:nvPr/>
        </p:nvSpPr>
        <p:spPr>
          <a:xfrm>
            <a:off x="457200" y="1188720"/>
            <a:ext cx="8229600" cy="822960"/>
          </a:xfrm>
          <a:prstGeom prst="rect">
            <a:avLst/>
          </a:prstGeom>
          <a:noFill/>
          <a:ln/>
        </p:spPr>
        <p:txBody>
          <a:bodyPr wrap="square" lIns="0" tIns="0" rIns="0" bIns="0" rtlCol="0" anchor="ctr"/>
          <a:lstStyle/>
          <a:p>
            <a:pPr algn="ctr" indent="0" marL="0">
              <a:buNone/>
            </a:pPr>
            <a:r>
              <a:rPr lang="en-US" sz="4400" dirty="0">
                <a:solidFill>
                  <a:srgbClr val="090D48"/>
                </a:solidFill>
                <a:latin typeface="Epilogue ExtraBold" pitchFamily="34" charset="0"/>
                <a:ea typeface="Epilogue ExtraBold" pitchFamily="34" charset="-122"/>
                <a:cs typeface="Epilogue ExtraBold" pitchFamily="34" charset="-120"/>
              </a:rPr>
              <a:t>FROM 4 BETS TO 7.</a:t>
            </a:r>
            <a:endParaRPr lang="en-US" sz="4400" dirty="0"/>
          </a:p>
        </p:txBody>
      </p:sp>
      <p:sp>
        <p:nvSpPr>
          <p:cNvPr id="5" name="Text 1"/>
          <p:cNvSpPr/>
          <p:nvPr/>
        </p:nvSpPr>
        <p:spPr>
          <a:xfrm>
            <a:off x="457200" y="2057400"/>
            <a:ext cx="8229600" cy="822960"/>
          </a:xfrm>
          <a:prstGeom prst="rect">
            <a:avLst/>
          </a:prstGeom>
          <a:noFill/>
          <a:ln/>
        </p:spPr>
        <p:txBody>
          <a:bodyPr wrap="square" lIns="0" tIns="0" rIns="0" bIns="0" rtlCol="0" anchor="ctr"/>
          <a:lstStyle/>
          <a:p>
            <a:pPr algn="ctr" indent="0" marL="0">
              <a:buNone/>
            </a:pPr>
            <a:r>
              <a:rPr lang="en-US" sz="4400" dirty="0">
                <a:solidFill>
                  <a:srgbClr val="23B4FF"/>
                </a:solidFill>
                <a:latin typeface="Epilogue ExtraBold" pitchFamily="34" charset="0"/>
                <a:ea typeface="Epilogue ExtraBold" pitchFamily="34" charset="-122"/>
                <a:cs typeface="Epilogue ExtraBold" pitchFamily="34" charset="-120"/>
              </a:rPr>
              <a:t>FROM 20K TO 1M AI MAU.</a:t>
            </a:r>
            <a:endParaRPr lang="en-US" sz="4400" dirty="0"/>
          </a:p>
        </p:txBody>
      </p:sp>
      <p:sp>
        <p:nvSpPr>
          <p:cNvPr id="6" name="Text 2"/>
          <p:cNvSpPr/>
          <p:nvPr/>
        </p:nvSpPr>
        <p:spPr>
          <a:xfrm>
            <a:off x="457200" y="3108960"/>
            <a:ext cx="8229600" cy="457200"/>
          </a:xfrm>
          <a:prstGeom prst="rect">
            <a:avLst/>
          </a:prstGeom>
          <a:noFill/>
          <a:ln/>
        </p:spPr>
        <p:txBody>
          <a:bodyPr wrap="square" lIns="0" tIns="0" rIns="0" bIns="0" rtlCol="0" anchor="ctr"/>
          <a:lstStyle/>
          <a:p>
            <a:pPr algn="ctr" indent="0" marL="0">
              <a:buNone/>
            </a:pPr>
            <a:r>
              <a:rPr lang="en-US" sz="1800" b="1" dirty="0">
                <a:solidFill>
                  <a:srgbClr val="090D48"/>
                </a:solidFill>
                <a:latin typeface="Inter" pitchFamily="34" charset="0"/>
                <a:ea typeface="Inter" pitchFamily="34" charset="-122"/>
                <a:cs typeface="Inter" pitchFamily="34" charset="-120"/>
              </a:rPr>
              <a:t>Approval today, work starts tomorrow.</a:t>
            </a:r>
            <a:endParaRPr lang="en-US" sz="1800" dirty="0"/>
          </a:p>
        </p:txBody>
      </p:sp>
      <p:sp>
        <p:nvSpPr>
          <p:cNvPr id="7" name="Text 3"/>
          <p:cNvSpPr/>
          <p:nvPr/>
        </p:nvSpPr>
        <p:spPr>
          <a:xfrm>
            <a:off x="457200" y="3611880"/>
            <a:ext cx="8229600" cy="320040"/>
          </a:xfrm>
          <a:prstGeom prst="rect">
            <a:avLst/>
          </a:prstGeom>
          <a:noFill/>
          <a:ln/>
        </p:spPr>
        <p:txBody>
          <a:bodyPr wrap="square" lIns="0" tIns="0" rIns="0" bIns="0" rtlCol="0" anchor="ctr"/>
          <a:lstStyle/>
          <a:p>
            <a:pPr algn="ctr" indent="0" marL="0">
              <a:buNone/>
            </a:pPr>
            <a:r>
              <a:rPr lang="en-US" sz="1100" dirty="0">
                <a:solidFill>
                  <a:srgbClr val="9B9B9B"/>
                </a:solidFill>
                <a:latin typeface="Inter" pitchFamily="34" charset="0"/>
                <a:ea typeface="Inter" pitchFamily="34" charset="-122"/>
                <a:cs typeface="Inter" pitchFamily="34" charset="-120"/>
              </a:rPr>
              <a:t>Zee Abuzeid  ·  Principal PM, Navigator  ·  zyad.abuzeid@staffbase.com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2026-05-21T11:29:32Z</dcterms:created>
  <dcterms:modified xsi:type="dcterms:W3CDTF">2026-05-21T11:29:32Z</dcterms:modified>
</cp:coreProperties>
</file>